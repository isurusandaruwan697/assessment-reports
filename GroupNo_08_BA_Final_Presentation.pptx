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Bricolage Grotesque" panose="020B0604020202020204" charset="0"/>
      <p:regular r:id="rId32"/>
    </p:embeddedFont>
    <p:embeddedFont>
      <p:font typeface="Bricolage Grotesque Bold" panose="020B0604020202020204" charset="0"/>
      <p:regular r:id="rId33"/>
    </p:embeddedFont>
    <p:embeddedFont>
      <p:font typeface="Bricolage Grotesque Semi-Bold" panose="020B0604020202020204" charset="0"/>
      <p:regular r:id="rId34"/>
    </p:embeddedFont>
    <p:embeddedFont>
      <p:font typeface="Montserrat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13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sv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hyperlink" Target="https://drive.google.com/file/d/1VuK667KKdaJ7X3OGhnuVNOuJNYv_04XD/view?usp=sharing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sv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svg"/><Relationship Id="rId7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5668" y="906869"/>
            <a:ext cx="8388529" cy="8473262"/>
            <a:chOff x="0" y="0"/>
            <a:chExt cx="6286500" cy="6350000"/>
          </a:xfrm>
        </p:grpSpPr>
        <p:sp>
          <p:nvSpPr>
            <p:cNvPr id="3" name="Freeform 3"/>
            <p:cNvSpPr/>
            <p:nvPr/>
          </p:nvSpPr>
          <p:spPr>
            <a:xfrm>
              <a:off x="-157480" y="-19050"/>
              <a:ext cx="6493510" cy="6442710"/>
            </a:xfrm>
            <a:custGeom>
              <a:avLst/>
              <a:gdLst/>
              <a:ahLst/>
              <a:cxnLst/>
              <a:rect l="l" t="t" r="r" b="b"/>
              <a:pathLst>
                <a:path w="6493510" h="6442710">
                  <a:moveTo>
                    <a:pt x="6424930" y="3939540"/>
                  </a:moveTo>
                  <a:cubicBezTo>
                    <a:pt x="6150610" y="4605020"/>
                    <a:pt x="5850890" y="5260340"/>
                    <a:pt x="5519420" y="5897880"/>
                  </a:cubicBezTo>
                  <a:cubicBezTo>
                    <a:pt x="5245100" y="6327140"/>
                    <a:pt x="4709160" y="6226810"/>
                    <a:pt x="4486910" y="5800090"/>
                  </a:cubicBezTo>
                  <a:cubicBezTo>
                    <a:pt x="4116070" y="6037580"/>
                    <a:pt x="3705860" y="6219190"/>
                    <a:pt x="3285490" y="6348730"/>
                  </a:cubicBezTo>
                  <a:cubicBezTo>
                    <a:pt x="2970530" y="6442710"/>
                    <a:pt x="2627630" y="6210300"/>
                    <a:pt x="2585720" y="5887720"/>
                  </a:cubicBezTo>
                  <a:cubicBezTo>
                    <a:pt x="2332990" y="6042660"/>
                    <a:pt x="1969770" y="5947410"/>
                    <a:pt x="1823720" y="5688330"/>
                  </a:cubicBezTo>
                  <a:cubicBezTo>
                    <a:pt x="1710690" y="5487670"/>
                    <a:pt x="1755140" y="5255260"/>
                    <a:pt x="1818640" y="5045710"/>
                  </a:cubicBezTo>
                  <a:cubicBezTo>
                    <a:pt x="1579880" y="5026660"/>
                    <a:pt x="1332230" y="5029200"/>
                    <a:pt x="1120140" y="4902200"/>
                  </a:cubicBezTo>
                  <a:cubicBezTo>
                    <a:pt x="567690" y="4564380"/>
                    <a:pt x="721360" y="3812540"/>
                    <a:pt x="1092200" y="3392170"/>
                  </a:cubicBezTo>
                  <a:cubicBezTo>
                    <a:pt x="801370" y="3284220"/>
                    <a:pt x="654050" y="2933700"/>
                    <a:pt x="775970" y="2650490"/>
                  </a:cubicBezTo>
                  <a:cubicBezTo>
                    <a:pt x="335280" y="2708910"/>
                    <a:pt x="0" y="2197100"/>
                    <a:pt x="234950" y="1817370"/>
                  </a:cubicBezTo>
                  <a:cubicBezTo>
                    <a:pt x="307340" y="1694180"/>
                    <a:pt x="429260" y="1598930"/>
                    <a:pt x="566420" y="1562100"/>
                  </a:cubicBezTo>
                  <a:cubicBezTo>
                    <a:pt x="1343660" y="1252220"/>
                    <a:pt x="2122170" y="943610"/>
                    <a:pt x="2899410" y="633730"/>
                  </a:cubicBezTo>
                  <a:cubicBezTo>
                    <a:pt x="3397250" y="435610"/>
                    <a:pt x="3896360" y="237490"/>
                    <a:pt x="4394200" y="39370"/>
                  </a:cubicBezTo>
                  <a:cubicBezTo>
                    <a:pt x="4536440" y="0"/>
                    <a:pt x="4695190" y="20320"/>
                    <a:pt x="4822190" y="95250"/>
                  </a:cubicBezTo>
                  <a:cubicBezTo>
                    <a:pt x="5080000" y="246380"/>
                    <a:pt x="5177790" y="599440"/>
                    <a:pt x="5021580" y="855980"/>
                  </a:cubicBezTo>
                  <a:cubicBezTo>
                    <a:pt x="4923790" y="1005840"/>
                    <a:pt x="4763770" y="1096010"/>
                    <a:pt x="4625340" y="1203960"/>
                  </a:cubicBezTo>
                  <a:cubicBezTo>
                    <a:pt x="5626100" y="1438910"/>
                    <a:pt x="5784850" y="2627630"/>
                    <a:pt x="5228590" y="3374390"/>
                  </a:cubicBezTo>
                  <a:cubicBezTo>
                    <a:pt x="5515610" y="3294380"/>
                    <a:pt x="5892800" y="3152140"/>
                    <a:pt x="6169660" y="3312160"/>
                  </a:cubicBezTo>
                  <a:cubicBezTo>
                    <a:pt x="6383020" y="3432810"/>
                    <a:pt x="6493510" y="3702050"/>
                    <a:pt x="6424930" y="3939540"/>
                  </a:cubicBezTo>
                  <a:close/>
                </a:path>
              </a:pathLst>
            </a:custGeom>
            <a:blipFill>
              <a:blip r:embed="rId2"/>
              <a:stretch>
                <a:fillRect l="-497" r="-497"/>
              </a:stretch>
            </a:blipFill>
            <a:ln w="114300" cap="sq">
              <a:solidFill>
                <a:srgbClr val="F1840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934961" y="3414276"/>
            <a:ext cx="7925888" cy="250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6"/>
              </a:lnSpc>
            </a:pPr>
            <a:r>
              <a:rPr lang="en-US" sz="6516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Business Analytics Implementation at JJ Trading</a:t>
            </a:r>
          </a:p>
        </p:txBody>
      </p:sp>
      <p:sp>
        <p:nvSpPr>
          <p:cNvPr id="5" name="Freeform 5"/>
          <p:cNvSpPr/>
          <p:nvPr/>
        </p:nvSpPr>
        <p:spPr>
          <a:xfrm rot="120891" flipV="1">
            <a:off x="14550485" y="5138874"/>
            <a:ext cx="6238081" cy="3754190"/>
          </a:xfrm>
          <a:custGeom>
            <a:avLst/>
            <a:gdLst/>
            <a:ahLst/>
            <a:cxnLst/>
            <a:rect l="l" t="t" r="r" b="b"/>
            <a:pathLst>
              <a:path w="6238081" h="3754190">
                <a:moveTo>
                  <a:pt x="0" y="3754191"/>
                </a:moveTo>
                <a:lnTo>
                  <a:pt x="6238080" y="3754191"/>
                </a:lnTo>
                <a:lnTo>
                  <a:pt x="6238080" y="0"/>
                </a:lnTo>
                <a:lnTo>
                  <a:pt x="0" y="0"/>
                </a:lnTo>
                <a:lnTo>
                  <a:pt x="0" y="375419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803761" y="224310"/>
            <a:ext cx="2133470" cy="2133470"/>
          </a:xfrm>
          <a:custGeom>
            <a:avLst/>
            <a:gdLst/>
            <a:ahLst/>
            <a:cxnLst/>
            <a:rect l="l" t="t" r="r" b="b"/>
            <a:pathLst>
              <a:path w="2133470" h="2133470">
                <a:moveTo>
                  <a:pt x="0" y="0"/>
                </a:moveTo>
                <a:lnTo>
                  <a:pt x="2133470" y="0"/>
                </a:lnTo>
                <a:lnTo>
                  <a:pt x="2133470" y="2133471"/>
                </a:lnTo>
                <a:lnTo>
                  <a:pt x="0" y="21334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948236" y="7885673"/>
            <a:ext cx="4532840" cy="5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8"/>
              </a:lnSpc>
              <a:spcBef>
                <a:spcPct val="0"/>
              </a:spcBef>
            </a:pPr>
            <a:r>
              <a:rPr lang="en-US" sz="3299" b="1">
                <a:solidFill>
                  <a:srgbClr val="FFFBEB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Presentation By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36027" y="7970788"/>
            <a:ext cx="3167734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DDDC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819" flipV="1">
            <a:off x="15187394" y="764773"/>
            <a:ext cx="3889237" cy="2340613"/>
          </a:xfrm>
          <a:custGeom>
            <a:avLst/>
            <a:gdLst/>
            <a:ahLst/>
            <a:cxnLst/>
            <a:rect l="l" t="t" r="r" b="b"/>
            <a:pathLst>
              <a:path w="3889237" h="2340613">
                <a:moveTo>
                  <a:pt x="0" y="2340614"/>
                </a:moveTo>
                <a:lnTo>
                  <a:pt x="3889237" y="2340614"/>
                </a:lnTo>
                <a:lnTo>
                  <a:pt x="3889237" y="0"/>
                </a:lnTo>
                <a:lnTo>
                  <a:pt x="0" y="0"/>
                </a:lnTo>
                <a:lnTo>
                  <a:pt x="0" y="2340614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409113" y="2502519"/>
          <a:ext cx="10100181" cy="6496050"/>
        </p:xfrm>
        <a:graphic>
          <a:graphicData uri="http://schemas.openxmlformats.org/drawingml/2006/table">
            <a:tbl>
              <a:tblPr/>
              <a:tblGrid>
                <a:gridCol w="4659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518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   Student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Index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4299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         K.L.D Nayanamini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22708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7965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             K G K P Premalal     </a:t>
                      </a:r>
                    </a:p>
                    <a:p>
                      <a:pPr algn="ctr">
                        <a:lnSpc>
                          <a:spcPts val="2939"/>
                        </a:lnSpc>
                      </a:pPr>
                      <a:endParaRPr lang="en-US" sz="2099">
                        <a:solidFill>
                          <a:srgbClr val="000000"/>
                        </a:solidFill>
                        <a:latin typeface="Bricolage Grotesque"/>
                        <a:ea typeface="Bricolage Grotesque"/>
                        <a:cs typeface="Bricolage Grotesque"/>
                        <a:sym typeface="Bricolage Grotesque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22760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4299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           R G I S Senarathne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22742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4299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           K.H.M.S. Dilshani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22746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2672848" y="444183"/>
            <a:ext cx="12192855" cy="104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0"/>
              </a:lnSpc>
              <a:spcBef>
                <a:spcPct val="0"/>
              </a:spcBef>
            </a:pPr>
            <a:r>
              <a:rPr lang="en-US" sz="6100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Group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37636" y="907063"/>
            <a:ext cx="9563482" cy="104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13"/>
              </a:lnSpc>
            </a:pPr>
            <a:r>
              <a:rPr lang="en-US" sz="7813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Company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84487" y="2746375"/>
            <a:ext cx="11669781" cy="6197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4174"/>
              </a:lnSpc>
              <a:buFont typeface="Arial"/>
              <a:buChar char="•"/>
            </a:pPr>
            <a:r>
              <a:rPr lang="en-US" sz="2499" b="1">
                <a:solidFill>
                  <a:srgbClr val="DDDCD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JJ Trading is a bottled water distributor in Homagama, Sri Lanka, offering its own brand (JJ Bottles) and other brands like Crystal and Elephant House.</a:t>
            </a:r>
          </a:p>
          <a:p>
            <a:pPr algn="just">
              <a:lnSpc>
                <a:spcPts val="4174"/>
              </a:lnSpc>
            </a:pPr>
            <a:endParaRPr lang="en-US" sz="2499" b="1">
              <a:solidFill>
                <a:srgbClr val="DDDCD8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marL="539749" lvl="1" indent="-269875" algn="just">
              <a:lnSpc>
                <a:spcPts val="4174"/>
              </a:lnSpc>
              <a:buFont typeface="Arial"/>
              <a:buChar char="•"/>
            </a:pPr>
            <a:r>
              <a:rPr lang="en-US" sz="2499" b="1">
                <a:solidFill>
                  <a:srgbClr val="DDDCD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Caters to B2B clients (shops, offices) and B2C customers (households, individuals).</a:t>
            </a:r>
          </a:p>
          <a:p>
            <a:pPr algn="just">
              <a:lnSpc>
                <a:spcPts val="4174"/>
              </a:lnSpc>
            </a:pPr>
            <a:endParaRPr lang="en-US" sz="2499" b="1">
              <a:solidFill>
                <a:srgbClr val="DDDCD8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marL="539749" lvl="1" indent="-269875" algn="just">
              <a:lnSpc>
                <a:spcPts val="4174"/>
              </a:lnSpc>
              <a:buFont typeface="Arial"/>
              <a:buChar char="•"/>
            </a:pPr>
            <a:r>
              <a:rPr lang="en-US" sz="2499" b="1">
                <a:solidFill>
                  <a:srgbClr val="DDDCD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Operates with a small team managing distribution, warehousing, and customer relations.</a:t>
            </a:r>
          </a:p>
          <a:p>
            <a:pPr algn="just">
              <a:lnSpc>
                <a:spcPts val="4008"/>
              </a:lnSpc>
            </a:pPr>
            <a:endParaRPr lang="en-US" sz="2499" b="1">
              <a:solidFill>
                <a:srgbClr val="DDDCD8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marL="518160" lvl="1" indent="-259080" algn="just">
              <a:lnSpc>
                <a:spcPts val="4008"/>
              </a:lnSpc>
              <a:buFont typeface="Arial"/>
              <a:buChar char="•"/>
            </a:pPr>
            <a:r>
              <a:rPr lang="en-US" sz="2400" b="1">
                <a:solidFill>
                  <a:srgbClr val="DDDCD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company offers a wide range of bottled water in various sizes, including 500ml, 1.5L, 5L, and 20L bottles.</a:t>
            </a:r>
          </a:p>
        </p:txBody>
      </p:sp>
      <p:sp>
        <p:nvSpPr>
          <p:cNvPr id="4" name="Freeform 4"/>
          <p:cNvSpPr/>
          <p:nvPr/>
        </p:nvSpPr>
        <p:spPr>
          <a:xfrm rot="416166">
            <a:off x="14933480" y="7696953"/>
            <a:ext cx="4651641" cy="2799442"/>
          </a:xfrm>
          <a:custGeom>
            <a:avLst/>
            <a:gdLst/>
            <a:ahLst/>
            <a:cxnLst/>
            <a:rect l="l" t="t" r="r" b="b"/>
            <a:pathLst>
              <a:path w="4651641" h="2799442">
                <a:moveTo>
                  <a:pt x="0" y="0"/>
                </a:moveTo>
                <a:lnTo>
                  <a:pt x="4651640" y="0"/>
                </a:lnTo>
                <a:lnTo>
                  <a:pt x="4651640" y="2799442"/>
                </a:lnTo>
                <a:lnTo>
                  <a:pt x="0" y="2799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-1467713" y="-304823"/>
            <a:ext cx="7128375" cy="6921643"/>
            <a:chOff x="0" y="0"/>
            <a:chExt cx="6533119" cy="63436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33119" cy="6343650"/>
            </a:xfrm>
            <a:custGeom>
              <a:avLst/>
              <a:gdLst/>
              <a:ahLst/>
              <a:cxnLst/>
              <a:rect l="l" t="t" r="r" b="b"/>
              <a:pathLst>
                <a:path w="6533119" h="6343650">
                  <a:moveTo>
                    <a:pt x="6533119" y="738886"/>
                  </a:moveTo>
                  <a:lnTo>
                    <a:pt x="6533119" y="5533771"/>
                  </a:lnTo>
                  <a:lnTo>
                    <a:pt x="6532980" y="5533771"/>
                  </a:lnTo>
                  <a:cubicBezTo>
                    <a:pt x="6532980" y="5537200"/>
                    <a:pt x="6533119" y="5540756"/>
                    <a:pt x="6533119" y="5544185"/>
                  </a:cubicBezTo>
                  <a:cubicBezTo>
                    <a:pt x="6533119" y="5985764"/>
                    <a:pt x="6140081" y="6343650"/>
                    <a:pt x="5655128" y="6343650"/>
                  </a:cubicBezTo>
                  <a:cubicBezTo>
                    <a:pt x="5424438" y="6343650"/>
                    <a:pt x="5214668" y="6262624"/>
                    <a:pt x="5058038" y="6130163"/>
                  </a:cubicBezTo>
                  <a:cubicBezTo>
                    <a:pt x="4901409" y="6262624"/>
                    <a:pt x="4691499" y="6343650"/>
                    <a:pt x="4460948" y="6343650"/>
                  </a:cubicBezTo>
                  <a:cubicBezTo>
                    <a:pt x="4230258" y="6343650"/>
                    <a:pt x="4020488" y="6262624"/>
                    <a:pt x="3863859" y="6130163"/>
                  </a:cubicBezTo>
                  <a:cubicBezTo>
                    <a:pt x="3707229" y="6262624"/>
                    <a:pt x="3497320" y="6343650"/>
                    <a:pt x="3266769" y="6343650"/>
                  </a:cubicBezTo>
                  <a:cubicBezTo>
                    <a:pt x="3036218" y="6343650"/>
                    <a:pt x="2826309" y="6262624"/>
                    <a:pt x="2669679" y="6130163"/>
                  </a:cubicBezTo>
                  <a:cubicBezTo>
                    <a:pt x="2513049" y="6262624"/>
                    <a:pt x="2303140" y="6343650"/>
                    <a:pt x="2072589" y="6343650"/>
                  </a:cubicBezTo>
                  <a:cubicBezTo>
                    <a:pt x="1841899" y="6343650"/>
                    <a:pt x="1632129" y="6262624"/>
                    <a:pt x="1475499" y="6130163"/>
                  </a:cubicBezTo>
                  <a:cubicBezTo>
                    <a:pt x="1318870" y="6262624"/>
                    <a:pt x="1108961" y="6343650"/>
                    <a:pt x="878409" y="6343650"/>
                  </a:cubicBezTo>
                  <a:cubicBezTo>
                    <a:pt x="393039" y="6343650"/>
                    <a:pt x="0" y="5985637"/>
                    <a:pt x="0" y="5544185"/>
                  </a:cubicBezTo>
                  <a:cubicBezTo>
                    <a:pt x="0" y="5540756"/>
                    <a:pt x="139" y="5537200"/>
                    <a:pt x="139" y="5533771"/>
                  </a:cubicBezTo>
                  <a:lnTo>
                    <a:pt x="0" y="5533771"/>
                  </a:lnTo>
                  <a:lnTo>
                    <a:pt x="0" y="738886"/>
                  </a:lnTo>
                  <a:lnTo>
                    <a:pt x="2511" y="738886"/>
                  </a:lnTo>
                  <a:cubicBezTo>
                    <a:pt x="36542" y="325628"/>
                    <a:pt x="415494" y="0"/>
                    <a:pt x="877991" y="0"/>
                  </a:cubicBezTo>
                  <a:cubicBezTo>
                    <a:pt x="1108682" y="0"/>
                    <a:pt x="1318451" y="81026"/>
                    <a:pt x="1475081" y="213487"/>
                  </a:cubicBezTo>
                  <a:cubicBezTo>
                    <a:pt x="1631850" y="81026"/>
                    <a:pt x="1841620" y="0"/>
                    <a:pt x="2072310" y="0"/>
                  </a:cubicBezTo>
                  <a:cubicBezTo>
                    <a:pt x="2303001" y="0"/>
                    <a:pt x="2512770" y="81026"/>
                    <a:pt x="2669400" y="213487"/>
                  </a:cubicBezTo>
                  <a:cubicBezTo>
                    <a:pt x="2826030" y="81026"/>
                    <a:pt x="3035939" y="0"/>
                    <a:pt x="3266490" y="0"/>
                  </a:cubicBezTo>
                  <a:cubicBezTo>
                    <a:pt x="3497041" y="0"/>
                    <a:pt x="3706950" y="81026"/>
                    <a:pt x="3863580" y="213487"/>
                  </a:cubicBezTo>
                  <a:cubicBezTo>
                    <a:pt x="4020349" y="81026"/>
                    <a:pt x="4230258" y="0"/>
                    <a:pt x="4460809" y="0"/>
                  </a:cubicBezTo>
                  <a:cubicBezTo>
                    <a:pt x="4691499" y="0"/>
                    <a:pt x="4901269" y="81026"/>
                    <a:pt x="5057899" y="213487"/>
                  </a:cubicBezTo>
                  <a:cubicBezTo>
                    <a:pt x="5214668" y="81026"/>
                    <a:pt x="5424438" y="0"/>
                    <a:pt x="5655128" y="0"/>
                  </a:cubicBezTo>
                  <a:cubicBezTo>
                    <a:pt x="6117625" y="0"/>
                    <a:pt x="6496577" y="325628"/>
                    <a:pt x="6530608" y="738886"/>
                  </a:cubicBezTo>
                  <a:lnTo>
                    <a:pt x="6533119" y="738886"/>
                  </a:lnTo>
                  <a:close/>
                </a:path>
              </a:pathLst>
            </a:custGeom>
            <a:blipFill>
              <a:blip r:embed="rId4"/>
              <a:stretch>
                <a:fillRect l="-35771" r="-35771"/>
              </a:stretch>
            </a:blipFill>
            <a:ln w="38100" cap="sq">
              <a:solidFill>
                <a:srgbClr val="F1840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97086" y="2946790"/>
            <a:ext cx="3891100" cy="6835313"/>
            <a:chOff x="0" y="0"/>
            <a:chExt cx="1013272" cy="17799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3272" cy="1779968"/>
            </a:xfrm>
            <a:custGeom>
              <a:avLst/>
              <a:gdLst/>
              <a:ahLst/>
              <a:cxnLst/>
              <a:rect l="l" t="t" r="r" b="b"/>
              <a:pathLst>
                <a:path w="1013272" h="1779968">
                  <a:moveTo>
                    <a:pt x="101472" y="0"/>
                  </a:moveTo>
                  <a:lnTo>
                    <a:pt x="911800" y="0"/>
                  </a:lnTo>
                  <a:cubicBezTo>
                    <a:pt x="938712" y="0"/>
                    <a:pt x="964522" y="10691"/>
                    <a:pt x="983551" y="29720"/>
                  </a:cubicBezTo>
                  <a:cubicBezTo>
                    <a:pt x="1002581" y="48750"/>
                    <a:pt x="1013272" y="74560"/>
                    <a:pt x="1013272" y="101472"/>
                  </a:cubicBezTo>
                  <a:lnTo>
                    <a:pt x="1013272" y="1678495"/>
                  </a:lnTo>
                  <a:cubicBezTo>
                    <a:pt x="1013272" y="1705408"/>
                    <a:pt x="1002581" y="1731217"/>
                    <a:pt x="983551" y="1750247"/>
                  </a:cubicBezTo>
                  <a:cubicBezTo>
                    <a:pt x="964522" y="1769277"/>
                    <a:pt x="938712" y="1779968"/>
                    <a:pt x="911800" y="1779968"/>
                  </a:cubicBezTo>
                  <a:lnTo>
                    <a:pt x="101472" y="1779968"/>
                  </a:lnTo>
                  <a:cubicBezTo>
                    <a:pt x="74560" y="1779968"/>
                    <a:pt x="48750" y="1769277"/>
                    <a:pt x="29720" y="1750247"/>
                  </a:cubicBezTo>
                  <a:cubicBezTo>
                    <a:pt x="10691" y="1731217"/>
                    <a:pt x="0" y="1705408"/>
                    <a:pt x="0" y="1678495"/>
                  </a:cubicBezTo>
                  <a:lnTo>
                    <a:pt x="0" y="101472"/>
                  </a:lnTo>
                  <a:cubicBezTo>
                    <a:pt x="0" y="74560"/>
                    <a:pt x="10691" y="48750"/>
                    <a:pt x="29720" y="29720"/>
                  </a:cubicBezTo>
                  <a:cubicBezTo>
                    <a:pt x="48750" y="10691"/>
                    <a:pt x="74560" y="0"/>
                    <a:pt x="1014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213A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13272" cy="181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01273" y="2654001"/>
            <a:ext cx="3082727" cy="850655"/>
            <a:chOff x="0" y="0"/>
            <a:chExt cx="802765" cy="2215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02765" cy="221517"/>
            </a:xfrm>
            <a:custGeom>
              <a:avLst/>
              <a:gdLst/>
              <a:ahLst/>
              <a:cxnLst/>
              <a:rect l="l" t="t" r="r" b="b"/>
              <a:pathLst>
                <a:path w="802765" h="221517">
                  <a:moveTo>
                    <a:pt x="110759" y="0"/>
                  </a:moveTo>
                  <a:lnTo>
                    <a:pt x="692007" y="0"/>
                  </a:lnTo>
                  <a:cubicBezTo>
                    <a:pt x="753177" y="0"/>
                    <a:pt x="802765" y="49588"/>
                    <a:pt x="802765" y="110759"/>
                  </a:cubicBezTo>
                  <a:lnTo>
                    <a:pt x="802765" y="110759"/>
                  </a:lnTo>
                  <a:cubicBezTo>
                    <a:pt x="802765" y="171929"/>
                    <a:pt x="753177" y="221517"/>
                    <a:pt x="692007" y="221517"/>
                  </a:cubicBezTo>
                  <a:lnTo>
                    <a:pt x="110759" y="221517"/>
                  </a:lnTo>
                  <a:cubicBezTo>
                    <a:pt x="49588" y="221517"/>
                    <a:pt x="0" y="171929"/>
                    <a:pt x="0" y="110759"/>
                  </a:cubicBezTo>
                  <a:lnTo>
                    <a:pt x="0" y="110759"/>
                  </a:lnTo>
                  <a:cubicBezTo>
                    <a:pt x="0" y="49588"/>
                    <a:pt x="49588" y="0"/>
                    <a:pt x="110759" y="0"/>
                  </a:cubicBezTo>
                  <a:close/>
                </a:path>
              </a:pathLst>
            </a:custGeom>
            <a:solidFill>
              <a:srgbClr val="F1840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02765" cy="25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26411" y="3054323"/>
            <a:ext cx="3878180" cy="6727781"/>
            <a:chOff x="0" y="0"/>
            <a:chExt cx="1009908" cy="17519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9908" cy="1751965"/>
            </a:xfrm>
            <a:custGeom>
              <a:avLst/>
              <a:gdLst/>
              <a:ahLst/>
              <a:cxnLst/>
              <a:rect l="l" t="t" r="r" b="b"/>
              <a:pathLst>
                <a:path w="1009908" h="1751965">
                  <a:moveTo>
                    <a:pt x="101810" y="0"/>
                  </a:moveTo>
                  <a:lnTo>
                    <a:pt x="908098" y="0"/>
                  </a:lnTo>
                  <a:cubicBezTo>
                    <a:pt x="964326" y="0"/>
                    <a:pt x="1009908" y="45582"/>
                    <a:pt x="1009908" y="101810"/>
                  </a:cubicBezTo>
                  <a:lnTo>
                    <a:pt x="1009908" y="1650155"/>
                  </a:lnTo>
                  <a:cubicBezTo>
                    <a:pt x="1009908" y="1677157"/>
                    <a:pt x="999181" y="1703053"/>
                    <a:pt x="980088" y="1722146"/>
                  </a:cubicBezTo>
                  <a:cubicBezTo>
                    <a:pt x="960995" y="1741239"/>
                    <a:pt x="935099" y="1751965"/>
                    <a:pt x="908098" y="1751965"/>
                  </a:cubicBezTo>
                  <a:lnTo>
                    <a:pt x="101810" y="1751965"/>
                  </a:lnTo>
                  <a:cubicBezTo>
                    <a:pt x="45582" y="1751965"/>
                    <a:pt x="0" y="1706383"/>
                    <a:pt x="0" y="1650155"/>
                  </a:cubicBezTo>
                  <a:lnTo>
                    <a:pt x="0" y="101810"/>
                  </a:lnTo>
                  <a:cubicBezTo>
                    <a:pt x="0" y="45582"/>
                    <a:pt x="45582" y="0"/>
                    <a:pt x="1018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1840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09908" cy="1790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20635" y="3054323"/>
            <a:ext cx="3891942" cy="6727781"/>
            <a:chOff x="0" y="0"/>
            <a:chExt cx="1013491" cy="17519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3491" cy="1751965"/>
            </a:xfrm>
            <a:custGeom>
              <a:avLst/>
              <a:gdLst/>
              <a:ahLst/>
              <a:cxnLst/>
              <a:rect l="l" t="t" r="r" b="b"/>
              <a:pathLst>
                <a:path w="1013491" h="1751965">
                  <a:moveTo>
                    <a:pt x="101450" y="0"/>
                  </a:moveTo>
                  <a:lnTo>
                    <a:pt x="912041" y="0"/>
                  </a:lnTo>
                  <a:cubicBezTo>
                    <a:pt x="938947" y="0"/>
                    <a:pt x="964752" y="10688"/>
                    <a:pt x="983777" y="29714"/>
                  </a:cubicBezTo>
                  <a:cubicBezTo>
                    <a:pt x="1002803" y="48740"/>
                    <a:pt x="1013491" y="74544"/>
                    <a:pt x="1013491" y="101450"/>
                  </a:cubicBezTo>
                  <a:lnTo>
                    <a:pt x="1013491" y="1650515"/>
                  </a:lnTo>
                  <a:cubicBezTo>
                    <a:pt x="1013491" y="1706544"/>
                    <a:pt x="968071" y="1751965"/>
                    <a:pt x="912041" y="1751965"/>
                  </a:cubicBezTo>
                  <a:lnTo>
                    <a:pt x="101450" y="1751965"/>
                  </a:lnTo>
                  <a:cubicBezTo>
                    <a:pt x="45421" y="1751965"/>
                    <a:pt x="0" y="1706544"/>
                    <a:pt x="0" y="1650515"/>
                  </a:cubicBezTo>
                  <a:lnTo>
                    <a:pt x="0" y="101450"/>
                  </a:lnTo>
                  <a:cubicBezTo>
                    <a:pt x="0" y="45421"/>
                    <a:pt x="45421" y="0"/>
                    <a:pt x="101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213A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13491" cy="1790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324138" y="2654001"/>
            <a:ext cx="3082727" cy="850655"/>
            <a:chOff x="0" y="0"/>
            <a:chExt cx="802765" cy="22151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02765" cy="221517"/>
            </a:xfrm>
            <a:custGeom>
              <a:avLst/>
              <a:gdLst/>
              <a:ahLst/>
              <a:cxnLst/>
              <a:rect l="l" t="t" r="r" b="b"/>
              <a:pathLst>
                <a:path w="802765" h="221517">
                  <a:moveTo>
                    <a:pt x="110759" y="0"/>
                  </a:moveTo>
                  <a:lnTo>
                    <a:pt x="692007" y="0"/>
                  </a:lnTo>
                  <a:cubicBezTo>
                    <a:pt x="753177" y="0"/>
                    <a:pt x="802765" y="49588"/>
                    <a:pt x="802765" y="110759"/>
                  </a:cubicBezTo>
                  <a:lnTo>
                    <a:pt x="802765" y="110759"/>
                  </a:lnTo>
                  <a:cubicBezTo>
                    <a:pt x="802765" y="171929"/>
                    <a:pt x="753177" y="221517"/>
                    <a:pt x="692007" y="221517"/>
                  </a:cubicBezTo>
                  <a:lnTo>
                    <a:pt x="110759" y="221517"/>
                  </a:lnTo>
                  <a:cubicBezTo>
                    <a:pt x="49588" y="221517"/>
                    <a:pt x="0" y="171929"/>
                    <a:pt x="0" y="110759"/>
                  </a:cubicBezTo>
                  <a:lnTo>
                    <a:pt x="0" y="110759"/>
                  </a:lnTo>
                  <a:cubicBezTo>
                    <a:pt x="0" y="49588"/>
                    <a:pt x="49588" y="0"/>
                    <a:pt x="110759" y="0"/>
                  </a:cubicBezTo>
                  <a:close/>
                </a:path>
              </a:pathLst>
            </a:custGeom>
            <a:solidFill>
              <a:srgbClr val="213A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02765" cy="25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25243" y="2654001"/>
            <a:ext cx="3082727" cy="850655"/>
            <a:chOff x="0" y="0"/>
            <a:chExt cx="802765" cy="2215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2765" cy="221517"/>
            </a:xfrm>
            <a:custGeom>
              <a:avLst/>
              <a:gdLst/>
              <a:ahLst/>
              <a:cxnLst/>
              <a:rect l="l" t="t" r="r" b="b"/>
              <a:pathLst>
                <a:path w="802765" h="221517">
                  <a:moveTo>
                    <a:pt x="110759" y="0"/>
                  </a:moveTo>
                  <a:lnTo>
                    <a:pt x="692007" y="0"/>
                  </a:lnTo>
                  <a:cubicBezTo>
                    <a:pt x="753177" y="0"/>
                    <a:pt x="802765" y="49588"/>
                    <a:pt x="802765" y="110759"/>
                  </a:cubicBezTo>
                  <a:lnTo>
                    <a:pt x="802765" y="110759"/>
                  </a:lnTo>
                  <a:cubicBezTo>
                    <a:pt x="802765" y="171929"/>
                    <a:pt x="753177" y="221517"/>
                    <a:pt x="692007" y="221517"/>
                  </a:cubicBezTo>
                  <a:lnTo>
                    <a:pt x="110759" y="221517"/>
                  </a:lnTo>
                  <a:cubicBezTo>
                    <a:pt x="49588" y="221517"/>
                    <a:pt x="0" y="171929"/>
                    <a:pt x="0" y="110759"/>
                  </a:cubicBezTo>
                  <a:lnTo>
                    <a:pt x="0" y="110759"/>
                  </a:lnTo>
                  <a:cubicBezTo>
                    <a:pt x="0" y="49588"/>
                    <a:pt x="49588" y="0"/>
                    <a:pt x="110759" y="0"/>
                  </a:cubicBezTo>
                  <a:close/>
                </a:path>
              </a:pathLst>
            </a:custGeom>
            <a:solidFill>
              <a:srgbClr val="F1840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02765" cy="25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1676819" flipV="1">
            <a:off x="15187394" y="764773"/>
            <a:ext cx="3889237" cy="2340613"/>
          </a:xfrm>
          <a:custGeom>
            <a:avLst/>
            <a:gdLst/>
            <a:ahLst/>
            <a:cxnLst/>
            <a:rect l="l" t="t" r="r" b="b"/>
            <a:pathLst>
              <a:path w="3889237" h="2340613">
                <a:moveTo>
                  <a:pt x="0" y="2340614"/>
                </a:moveTo>
                <a:lnTo>
                  <a:pt x="3889237" y="2340614"/>
                </a:lnTo>
                <a:lnTo>
                  <a:pt x="3889237" y="0"/>
                </a:lnTo>
                <a:lnTo>
                  <a:pt x="0" y="0"/>
                </a:lnTo>
                <a:lnTo>
                  <a:pt x="0" y="2340614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2225821" y="4544794"/>
            <a:ext cx="3433630" cy="4191951"/>
            <a:chOff x="0" y="0"/>
            <a:chExt cx="4578174" cy="55892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78174" cy="5551379"/>
            </a:xfrm>
            <a:custGeom>
              <a:avLst/>
              <a:gdLst/>
              <a:ahLst/>
              <a:cxnLst/>
              <a:rect l="l" t="t" r="r" b="b"/>
              <a:pathLst>
                <a:path w="4578174" h="5551379">
                  <a:moveTo>
                    <a:pt x="0" y="0"/>
                  </a:moveTo>
                  <a:lnTo>
                    <a:pt x="4578174" y="0"/>
                  </a:lnTo>
                  <a:lnTo>
                    <a:pt x="4578174" y="5551379"/>
                  </a:lnTo>
                  <a:lnTo>
                    <a:pt x="0" y="5551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630239" y="1802906"/>
              <a:ext cx="2700823" cy="3748473"/>
            </a:xfrm>
            <a:custGeom>
              <a:avLst/>
              <a:gdLst/>
              <a:ahLst/>
              <a:cxnLst/>
              <a:rect l="l" t="t" r="r" b="b"/>
              <a:pathLst>
                <a:path w="2700823" h="3748473">
                  <a:moveTo>
                    <a:pt x="0" y="0"/>
                  </a:moveTo>
                  <a:lnTo>
                    <a:pt x="2700823" y="0"/>
                  </a:lnTo>
                  <a:lnTo>
                    <a:pt x="2700823" y="3748473"/>
                  </a:lnTo>
                  <a:lnTo>
                    <a:pt x="0" y="3748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39023" y="2075425"/>
              <a:ext cx="2342562" cy="3513843"/>
            </a:xfrm>
            <a:custGeom>
              <a:avLst/>
              <a:gdLst/>
              <a:ahLst/>
              <a:cxnLst/>
              <a:rect l="l" t="t" r="r" b="b"/>
              <a:pathLst>
                <a:path w="2342562" h="3513843">
                  <a:moveTo>
                    <a:pt x="0" y="0"/>
                  </a:moveTo>
                  <a:lnTo>
                    <a:pt x="2342562" y="0"/>
                  </a:lnTo>
                  <a:lnTo>
                    <a:pt x="2342562" y="3513843"/>
                  </a:lnTo>
                  <a:lnTo>
                    <a:pt x="0" y="3513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107624" y="4550523"/>
            <a:ext cx="3552569" cy="4186222"/>
            <a:chOff x="0" y="0"/>
            <a:chExt cx="4736759" cy="558162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398987" cy="5581629"/>
            </a:xfrm>
            <a:custGeom>
              <a:avLst/>
              <a:gdLst/>
              <a:ahLst/>
              <a:cxnLst/>
              <a:rect l="l" t="t" r="r" b="b"/>
              <a:pathLst>
                <a:path w="4398987" h="5581629">
                  <a:moveTo>
                    <a:pt x="0" y="0"/>
                  </a:moveTo>
                  <a:lnTo>
                    <a:pt x="4398987" y="0"/>
                  </a:lnTo>
                  <a:lnTo>
                    <a:pt x="4398987" y="5581629"/>
                  </a:lnTo>
                  <a:lnTo>
                    <a:pt x="0" y="5581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552660" y="1488978"/>
              <a:ext cx="3184099" cy="4092651"/>
            </a:xfrm>
            <a:custGeom>
              <a:avLst/>
              <a:gdLst/>
              <a:ahLst/>
              <a:cxnLst/>
              <a:rect l="l" t="t" r="r" b="b"/>
              <a:pathLst>
                <a:path w="3184099" h="4092651">
                  <a:moveTo>
                    <a:pt x="0" y="0"/>
                  </a:moveTo>
                  <a:lnTo>
                    <a:pt x="3184099" y="0"/>
                  </a:lnTo>
                  <a:lnTo>
                    <a:pt x="3184099" y="4092651"/>
                  </a:lnTo>
                  <a:lnTo>
                    <a:pt x="0" y="4092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2490254"/>
              <a:ext cx="1987823" cy="2981735"/>
            </a:xfrm>
            <a:custGeom>
              <a:avLst/>
              <a:gdLst/>
              <a:ahLst/>
              <a:cxnLst/>
              <a:rect l="l" t="t" r="r" b="b"/>
              <a:pathLst>
                <a:path w="1987823" h="2981735">
                  <a:moveTo>
                    <a:pt x="0" y="0"/>
                  </a:moveTo>
                  <a:lnTo>
                    <a:pt x="1987823" y="0"/>
                  </a:lnTo>
                  <a:lnTo>
                    <a:pt x="1987823" y="2981734"/>
                  </a:lnTo>
                  <a:lnTo>
                    <a:pt x="0" y="2981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844984" y="4074572"/>
            <a:ext cx="3967593" cy="4687283"/>
            <a:chOff x="0" y="0"/>
            <a:chExt cx="5290125" cy="624971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81724" cy="6182776"/>
            </a:xfrm>
            <a:custGeom>
              <a:avLst/>
              <a:gdLst/>
              <a:ahLst/>
              <a:cxnLst/>
              <a:rect l="l" t="t" r="r" b="b"/>
              <a:pathLst>
                <a:path w="4881724" h="6182776">
                  <a:moveTo>
                    <a:pt x="0" y="0"/>
                  </a:moveTo>
                  <a:lnTo>
                    <a:pt x="4881724" y="0"/>
                  </a:lnTo>
                  <a:lnTo>
                    <a:pt x="4881724" y="6182776"/>
                  </a:lnTo>
                  <a:lnTo>
                    <a:pt x="0" y="6182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385711" y="2722958"/>
              <a:ext cx="2150857" cy="3409741"/>
            </a:xfrm>
            <a:custGeom>
              <a:avLst/>
              <a:gdLst/>
              <a:ahLst/>
              <a:cxnLst/>
              <a:rect l="l" t="t" r="r" b="b"/>
              <a:pathLst>
                <a:path w="2150857" h="3409741">
                  <a:moveTo>
                    <a:pt x="0" y="0"/>
                  </a:moveTo>
                  <a:lnTo>
                    <a:pt x="2150857" y="0"/>
                  </a:lnTo>
                  <a:lnTo>
                    <a:pt x="2150857" y="3409741"/>
                  </a:lnTo>
                  <a:lnTo>
                    <a:pt x="0" y="3409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1761555" y="1246703"/>
              <a:ext cx="3528570" cy="5003008"/>
            </a:xfrm>
            <a:custGeom>
              <a:avLst/>
              <a:gdLst/>
              <a:ahLst/>
              <a:cxnLst/>
              <a:rect l="l" t="t" r="r" b="b"/>
              <a:pathLst>
                <a:path w="3528570" h="5003008">
                  <a:moveTo>
                    <a:pt x="0" y="0"/>
                  </a:moveTo>
                  <a:lnTo>
                    <a:pt x="3528570" y="0"/>
                  </a:lnTo>
                  <a:lnTo>
                    <a:pt x="3528570" y="5003008"/>
                  </a:lnTo>
                  <a:lnTo>
                    <a:pt x="0" y="5003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754175" y="2744827"/>
            <a:ext cx="2461930" cy="55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1"/>
              </a:lnSpc>
            </a:pPr>
            <a:r>
              <a:rPr lang="en-US" sz="3236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JJ Bottle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221856" y="2769568"/>
            <a:ext cx="3308907" cy="50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1"/>
              </a:lnSpc>
            </a:pPr>
            <a:r>
              <a:rPr lang="en-US" sz="2936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Elephant House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22112" y="362154"/>
            <a:ext cx="12192855" cy="104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0"/>
              </a:lnSpc>
              <a:spcBef>
                <a:spcPct val="0"/>
              </a:spcBef>
            </a:pPr>
            <a:r>
              <a:rPr lang="en-US" sz="6100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Product Portfolio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22300" y="2744827"/>
            <a:ext cx="2461930" cy="55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1"/>
              </a:lnSpc>
            </a:pPr>
            <a:r>
              <a:rPr lang="en-US" sz="3236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Crystal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1770069" y="4304469"/>
            <a:ext cx="2420803" cy="8143458"/>
            <a:chOff x="0" y="0"/>
            <a:chExt cx="1010258" cy="33984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0258" cy="3398455"/>
            </a:xfrm>
            <a:custGeom>
              <a:avLst/>
              <a:gdLst/>
              <a:ahLst/>
              <a:cxnLst/>
              <a:rect l="l" t="t" r="r" b="b"/>
              <a:pathLst>
                <a:path w="1010258" h="3398455">
                  <a:moveTo>
                    <a:pt x="163102" y="0"/>
                  </a:moveTo>
                  <a:lnTo>
                    <a:pt x="847156" y="0"/>
                  </a:lnTo>
                  <a:cubicBezTo>
                    <a:pt x="890413" y="0"/>
                    <a:pt x="931899" y="17184"/>
                    <a:pt x="962486" y="47771"/>
                  </a:cubicBezTo>
                  <a:cubicBezTo>
                    <a:pt x="993074" y="78359"/>
                    <a:pt x="1010258" y="119845"/>
                    <a:pt x="1010258" y="163102"/>
                  </a:cubicBezTo>
                  <a:lnTo>
                    <a:pt x="1010258" y="3235353"/>
                  </a:lnTo>
                  <a:cubicBezTo>
                    <a:pt x="1010258" y="3278611"/>
                    <a:pt x="993074" y="3320096"/>
                    <a:pt x="962486" y="3350684"/>
                  </a:cubicBezTo>
                  <a:cubicBezTo>
                    <a:pt x="931899" y="3381272"/>
                    <a:pt x="890413" y="3398455"/>
                    <a:pt x="847156" y="3398455"/>
                  </a:cubicBezTo>
                  <a:lnTo>
                    <a:pt x="163102" y="3398455"/>
                  </a:lnTo>
                  <a:cubicBezTo>
                    <a:pt x="119845" y="3398455"/>
                    <a:pt x="78359" y="3381272"/>
                    <a:pt x="47771" y="3350684"/>
                  </a:cubicBezTo>
                  <a:cubicBezTo>
                    <a:pt x="17184" y="3320096"/>
                    <a:pt x="0" y="3278611"/>
                    <a:pt x="0" y="3235353"/>
                  </a:cubicBezTo>
                  <a:lnTo>
                    <a:pt x="0" y="163102"/>
                  </a:lnTo>
                  <a:cubicBezTo>
                    <a:pt x="0" y="119845"/>
                    <a:pt x="17184" y="78359"/>
                    <a:pt x="47771" y="47771"/>
                  </a:cubicBezTo>
                  <a:cubicBezTo>
                    <a:pt x="78359" y="17184"/>
                    <a:pt x="119845" y="0"/>
                    <a:pt x="1631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213A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10258" cy="3436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35596" y="7526655"/>
            <a:ext cx="7319656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we had conversations with the manager and key employees, they helped us understand main business problems impacting the company’s performance.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6828" y="1171575"/>
            <a:ext cx="7273923" cy="212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7"/>
              </a:lnSpc>
            </a:pPr>
            <a:r>
              <a:rPr lang="en-US" sz="8127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How we Gather Data?</a:t>
            </a:r>
          </a:p>
        </p:txBody>
      </p:sp>
      <p:sp>
        <p:nvSpPr>
          <p:cNvPr id="7" name="Freeform 7"/>
          <p:cNvSpPr/>
          <p:nvPr/>
        </p:nvSpPr>
        <p:spPr>
          <a:xfrm rot="-2342668" flipH="1" flipV="1">
            <a:off x="-599973" y="5185774"/>
            <a:ext cx="5438580" cy="3273037"/>
          </a:xfrm>
          <a:custGeom>
            <a:avLst/>
            <a:gdLst/>
            <a:ahLst/>
            <a:cxnLst/>
            <a:rect l="l" t="t" r="r" b="b"/>
            <a:pathLst>
              <a:path w="5438580" h="3273037">
                <a:moveTo>
                  <a:pt x="5438580" y="3273037"/>
                </a:moveTo>
                <a:lnTo>
                  <a:pt x="0" y="3273037"/>
                </a:lnTo>
                <a:lnTo>
                  <a:pt x="0" y="0"/>
                </a:lnTo>
                <a:lnTo>
                  <a:pt x="5438580" y="0"/>
                </a:lnTo>
                <a:lnTo>
                  <a:pt x="5438580" y="3273037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 rot="5400000">
            <a:off x="12028166" y="-1185699"/>
            <a:ext cx="1904610" cy="8143458"/>
            <a:chOff x="0" y="0"/>
            <a:chExt cx="794838" cy="33984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838" cy="3398455"/>
            </a:xfrm>
            <a:custGeom>
              <a:avLst/>
              <a:gdLst/>
              <a:ahLst/>
              <a:cxnLst/>
              <a:rect l="l" t="t" r="r" b="b"/>
              <a:pathLst>
                <a:path w="794838" h="3398455">
                  <a:moveTo>
                    <a:pt x="207306" y="0"/>
                  </a:moveTo>
                  <a:lnTo>
                    <a:pt x="587532" y="0"/>
                  </a:lnTo>
                  <a:cubicBezTo>
                    <a:pt x="642513" y="0"/>
                    <a:pt x="695242" y="21841"/>
                    <a:pt x="734119" y="60719"/>
                  </a:cubicBezTo>
                  <a:cubicBezTo>
                    <a:pt x="772997" y="99596"/>
                    <a:pt x="794838" y="152325"/>
                    <a:pt x="794838" y="207306"/>
                  </a:cubicBezTo>
                  <a:lnTo>
                    <a:pt x="794838" y="3191149"/>
                  </a:lnTo>
                  <a:cubicBezTo>
                    <a:pt x="794838" y="3246130"/>
                    <a:pt x="772997" y="3298859"/>
                    <a:pt x="734119" y="3337737"/>
                  </a:cubicBezTo>
                  <a:cubicBezTo>
                    <a:pt x="695242" y="3376614"/>
                    <a:pt x="642513" y="3398455"/>
                    <a:pt x="587532" y="3398455"/>
                  </a:cubicBezTo>
                  <a:lnTo>
                    <a:pt x="207306" y="3398455"/>
                  </a:lnTo>
                  <a:cubicBezTo>
                    <a:pt x="92814" y="3398455"/>
                    <a:pt x="0" y="3305641"/>
                    <a:pt x="0" y="3191149"/>
                  </a:cubicBezTo>
                  <a:lnTo>
                    <a:pt x="0" y="207306"/>
                  </a:lnTo>
                  <a:cubicBezTo>
                    <a:pt x="0" y="152325"/>
                    <a:pt x="21841" y="99596"/>
                    <a:pt x="60719" y="60719"/>
                  </a:cubicBezTo>
                  <a:cubicBezTo>
                    <a:pt x="99596" y="21841"/>
                    <a:pt x="152325" y="0"/>
                    <a:pt x="2073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213A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94838" cy="3436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477190" y="2230527"/>
            <a:ext cx="7319656" cy="135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we interviewed staff members involved in stock management and order fulfillment to understand their daily challenges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35596" y="1597594"/>
            <a:ext cx="3659828" cy="709133"/>
            <a:chOff x="0" y="0"/>
            <a:chExt cx="1716670" cy="33262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16670" cy="332624"/>
            </a:xfrm>
            <a:custGeom>
              <a:avLst/>
              <a:gdLst/>
              <a:ahLst/>
              <a:cxnLst/>
              <a:rect l="l" t="t" r="r" b="b"/>
              <a:pathLst>
                <a:path w="1716670" h="332624">
                  <a:moveTo>
                    <a:pt x="84615" y="0"/>
                  </a:moveTo>
                  <a:lnTo>
                    <a:pt x="1632054" y="0"/>
                  </a:lnTo>
                  <a:cubicBezTo>
                    <a:pt x="1654496" y="0"/>
                    <a:pt x="1676018" y="8915"/>
                    <a:pt x="1691886" y="24783"/>
                  </a:cubicBezTo>
                  <a:cubicBezTo>
                    <a:pt x="1707755" y="40652"/>
                    <a:pt x="1716670" y="62174"/>
                    <a:pt x="1716670" y="84615"/>
                  </a:cubicBezTo>
                  <a:lnTo>
                    <a:pt x="1716670" y="248009"/>
                  </a:lnTo>
                  <a:cubicBezTo>
                    <a:pt x="1716670" y="270450"/>
                    <a:pt x="1707755" y="291973"/>
                    <a:pt x="1691886" y="307841"/>
                  </a:cubicBezTo>
                  <a:cubicBezTo>
                    <a:pt x="1676018" y="323710"/>
                    <a:pt x="1654496" y="332624"/>
                    <a:pt x="1632054" y="332624"/>
                  </a:cubicBezTo>
                  <a:lnTo>
                    <a:pt x="84615" y="332624"/>
                  </a:lnTo>
                  <a:cubicBezTo>
                    <a:pt x="62174" y="332624"/>
                    <a:pt x="40652" y="323710"/>
                    <a:pt x="24783" y="307841"/>
                  </a:cubicBezTo>
                  <a:cubicBezTo>
                    <a:pt x="8915" y="291973"/>
                    <a:pt x="0" y="270450"/>
                    <a:pt x="0" y="248009"/>
                  </a:cubicBezTo>
                  <a:lnTo>
                    <a:pt x="0" y="84615"/>
                  </a:lnTo>
                  <a:cubicBezTo>
                    <a:pt x="0" y="62174"/>
                    <a:pt x="8915" y="40652"/>
                    <a:pt x="24783" y="24783"/>
                  </a:cubicBezTo>
                  <a:cubicBezTo>
                    <a:pt x="40652" y="8915"/>
                    <a:pt x="62174" y="0"/>
                    <a:pt x="84615" y="0"/>
                  </a:cubicBezTo>
                  <a:close/>
                </a:path>
              </a:pathLst>
            </a:custGeom>
            <a:solidFill>
              <a:srgbClr val="F1840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716670" cy="370724"/>
            </a:xfrm>
            <a:prstGeom prst="rect">
              <a:avLst/>
            </a:prstGeom>
          </p:spPr>
          <p:txBody>
            <a:bodyPr lIns="45197" tIns="45197" rIns="45197" bIns="45197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90206" y="1704747"/>
            <a:ext cx="3290264" cy="40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</a:pPr>
            <a:r>
              <a:rPr lang="en-US" sz="2402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Employee Interviews</a:t>
            </a:r>
          </a:p>
        </p:txBody>
      </p:sp>
      <p:sp>
        <p:nvSpPr>
          <p:cNvPr id="16" name="Freeform 16"/>
          <p:cNvSpPr/>
          <p:nvPr/>
        </p:nvSpPr>
        <p:spPr>
          <a:xfrm rot="-10800000">
            <a:off x="-5477639" y="-13967793"/>
            <a:ext cx="15193912" cy="15193912"/>
          </a:xfrm>
          <a:custGeom>
            <a:avLst/>
            <a:gdLst/>
            <a:ahLst/>
            <a:cxnLst/>
            <a:rect l="l" t="t" r="r" b="b"/>
            <a:pathLst>
              <a:path w="15193912" h="15193912">
                <a:moveTo>
                  <a:pt x="0" y="0"/>
                </a:moveTo>
                <a:lnTo>
                  <a:pt x="15193912" y="0"/>
                </a:lnTo>
                <a:lnTo>
                  <a:pt x="15193912" y="15193912"/>
                </a:lnTo>
                <a:lnTo>
                  <a:pt x="0" y="15193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 rot="5400000">
            <a:off x="12028166" y="1479567"/>
            <a:ext cx="1904610" cy="8143458"/>
            <a:chOff x="0" y="0"/>
            <a:chExt cx="794838" cy="339845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94838" cy="3398455"/>
            </a:xfrm>
            <a:custGeom>
              <a:avLst/>
              <a:gdLst/>
              <a:ahLst/>
              <a:cxnLst/>
              <a:rect l="l" t="t" r="r" b="b"/>
              <a:pathLst>
                <a:path w="794838" h="3398455">
                  <a:moveTo>
                    <a:pt x="207306" y="0"/>
                  </a:moveTo>
                  <a:lnTo>
                    <a:pt x="587532" y="0"/>
                  </a:lnTo>
                  <a:cubicBezTo>
                    <a:pt x="642513" y="0"/>
                    <a:pt x="695242" y="21841"/>
                    <a:pt x="734119" y="60719"/>
                  </a:cubicBezTo>
                  <a:cubicBezTo>
                    <a:pt x="772997" y="99596"/>
                    <a:pt x="794838" y="152325"/>
                    <a:pt x="794838" y="207306"/>
                  </a:cubicBezTo>
                  <a:lnTo>
                    <a:pt x="794838" y="3191149"/>
                  </a:lnTo>
                  <a:cubicBezTo>
                    <a:pt x="794838" y="3246130"/>
                    <a:pt x="772997" y="3298859"/>
                    <a:pt x="734119" y="3337737"/>
                  </a:cubicBezTo>
                  <a:cubicBezTo>
                    <a:pt x="695242" y="3376614"/>
                    <a:pt x="642513" y="3398455"/>
                    <a:pt x="587532" y="3398455"/>
                  </a:cubicBezTo>
                  <a:lnTo>
                    <a:pt x="207306" y="3398455"/>
                  </a:lnTo>
                  <a:cubicBezTo>
                    <a:pt x="92814" y="3398455"/>
                    <a:pt x="0" y="3305641"/>
                    <a:pt x="0" y="3191149"/>
                  </a:cubicBezTo>
                  <a:lnTo>
                    <a:pt x="0" y="207306"/>
                  </a:lnTo>
                  <a:cubicBezTo>
                    <a:pt x="0" y="152325"/>
                    <a:pt x="21841" y="99596"/>
                    <a:pt x="60719" y="60719"/>
                  </a:cubicBezTo>
                  <a:cubicBezTo>
                    <a:pt x="99596" y="21841"/>
                    <a:pt x="152325" y="0"/>
                    <a:pt x="2073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1840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94838" cy="3436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435596" y="5008686"/>
            <a:ext cx="7361249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we directly observed the ongoing processes at JJ Trading, which helped us identify inefficiencies in inventory organization and order processing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67943" y="4236360"/>
            <a:ext cx="3627481" cy="680445"/>
            <a:chOff x="0" y="0"/>
            <a:chExt cx="1701497" cy="3191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01497" cy="319168"/>
            </a:xfrm>
            <a:custGeom>
              <a:avLst/>
              <a:gdLst/>
              <a:ahLst/>
              <a:cxnLst/>
              <a:rect l="l" t="t" r="r" b="b"/>
              <a:pathLst>
                <a:path w="1701497" h="319168">
                  <a:moveTo>
                    <a:pt x="85370" y="0"/>
                  </a:moveTo>
                  <a:lnTo>
                    <a:pt x="1616127" y="0"/>
                  </a:lnTo>
                  <a:cubicBezTo>
                    <a:pt x="1663276" y="0"/>
                    <a:pt x="1701497" y="38221"/>
                    <a:pt x="1701497" y="85370"/>
                  </a:cubicBezTo>
                  <a:lnTo>
                    <a:pt x="1701497" y="233798"/>
                  </a:lnTo>
                  <a:cubicBezTo>
                    <a:pt x="1701497" y="280946"/>
                    <a:pt x="1663276" y="319168"/>
                    <a:pt x="1616127" y="319168"/>
                  </a:cubicBezTo>
                  <a:lnTo>
                    <a:pt x="85370" y="319168"/>
                  </a:lnTo>
                  <a:cubicBezTo>
                    <a:pt x="38221" y="319168"/>
                    <a:pt x="0" y="280946"/>
                    <a:pt x="0" y="233798"/>
                  </a:cubicBezTo>
                  <a:lnTo>
                    <a:pt x="0" y="85370"/>
                  </a:lnTo>
                  <a:cubicBezTo>
                    <a:pt x="0" y="38221"/>
                    <a:pt x="38221" y="0"/>
                    <a:pt x="85370" y="0"/>
                  </a:cubicBezTo>
                  <a:close/>
                </a:path>
              </a:pathLst>
            </a:custGeom>
            <a:solidFill>
              <a:srgbClr val="213A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701497" cy="357268"/>
            </a:xfrm>
            <a:prstGeom prst="rect">
              <a:avLst/>
            </a:prstGeom>
          </p:spPr>
          <p:txBody>
            <a:bodyPr lIns="45197" tIns="45197" rIns="45197" bIns="45197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939529" y="4341135"/>
            <a:ext cx="3040942" cy="38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302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Process Observation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477190" y="6868409"/>
            <a:ext cx="4245041" cy="685480"/>
            <a:chOff x="0" y="0"/>
            <a:chExt cx="1991168" cy="32153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91168" cy="321530"/>
            </a:xfrm>
            <a:custGeom>
              <a:avLst/>
              <a:gdLst/>
              <a:ahLst/>
              <a:cxnLst/>
              <a:rect l="l" t="t" r="r" b="b"/>
              <a:pathLst>
                <a:path w="1991168" h="321530">
                  <a:moveTo>
                    <a:pt x="72950" y="0"/>
                  </a:moveTo>
                  <a:lnTo>
                    <a:pt x="1918218" y="0"/>
                  </a:lnTo>
                  <a:cubicBezTo>
                    <a:pt x="1958507" y="0"/>
                    <a:pt x="1991168" y="32661"/>
                    <a:pt x="1991168" y="72950"/>
                  </a:cubicBezTo>
                  <a:lnTo>
                    <a:pt x="1991168" y="248579"/>
                  </a:lnTo>
                  <a:cubicBezTo>
                    <a:pt x="1991168" y="267927"/>
                    <a:pt x="1983482" y="286482"/>
                    <a:pt x="1969801" y="300163"/>
                  </a:cubicBezTo>
                  <a:cubicBezTo>
                    <a:pt x="1956121" y="313844"/>
                    <a:pt x="1937566" y="321530"/>
                    <a:pt x="1918218" y="321530"/>
                  </a:cubicBezTo>
                  <a:lnTo>
                    <a:pt x="72950" y="321530"/>
                  </a:lnTo>
                  <a:cubicBezTo>
                    <a:pt x="32661" y="321530"/>
                    <a:pt x="0" y="288869"/>
                    <a:pt x="0" y="248579"/>
                  </a:cubicBezTo>
                  <a:lnTo>
                    <a:pt x="0" y="72950"/>
                  </a:lnTo>
                  <a:cubicBezTo>
                    <a:pt x="0" y="32661"/>
                    <a:pt x="32661" y="0"/>
                    <a:pt x="72950" y="0"/>
                  </a:cubicBezTo>
                  <a:close/>
                </a:path>
              </a:pathLst>
            </a:custGeom>
            <a:solidFill>
              <a:srgbClr val="F1840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991168" cy="359630"/>
            </a:xfrm>
            <a:prstGeom prst="rect">
              <a:avLst/>
            </a:prstGeom>
          </p:spPr>
          <p:txBody>
            <a:bodyPr lIns="45197" tIns="45197" rIns="45197" bIns="45197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939529" y="6977878"/>
            <a:ext cx="3782702" cy="38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Discuss with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1161" y="1252887"/>
            <a:ext cx="11520176" cy="104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540"/>
              </a:lnSpc>
              <a:spcBef>
                <a:spcPct val="0"/>
              </a:spcBef>
            </a:pPr>
            <a:r>
              <a:rPr lang="en-US" sz="6100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Identify Business  Problems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5475100" y="5854005"/>
            <a:ext cx="820611" cy="20958"/>
          </a:xfrm>
          <a:prstGeom prst="line">
            <a:avLst/>
          </a:prstGeom>
          <a:ln w="38100" cap="flat">
            <a:solidFill>
              <a:srgbClr val="FFF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671621" flipH="1">
            <a:off x="-2387868" y="2543671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4775736" y="0"/>
                </a:moveTo>
                <a:lnTo>
                  <a:pt x="0" y="0"/>
                </a:lnTo>
                <a:lnTo>
                  <a:pt x="0" y="2874124"/>
                </a:lnTo>
                <a:lnTo>
                  <a:pt x="4775736" y="2874124"/>
                </a:lnTo>
                <a:lnTo>
                  <a:pt x="4775736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5429872"/>
            <a:ext cx="4555373" cy="1545771"/>
            <a:chOff x="0" y="0"/>
            <a:chExt cx="1362573" cy="4623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2573" cy="462361"/>
            </a:xfrm>
            <a:custGeom>
              <a:avLst/>
              <a:gdLst/>
              <a:ahLst/>
              <a:cxnLst/>
              <a:rect l="l" t="t" r="r" b="b"/>
              <a:pathLst>
                <a:path w="1362573" h="462361">
                  <a:moveTo>
                    <a:pt x="169951" y="0"/>
                  </a:moveTo>
                  <a:lnTo>
                    <a:pt x="1192622" y="0"/>
                  </a:lnTo>
                  <a:cubicBezTo>
                    <a:pt x="1286483" y="0"/>
                    <a:pt x="1362573" y="76090"/>
                    <a:pt x="1362573" y="169951"/>
                  </a:cubicBezTo>
                  <a:lnTo>
                    <a:pt x="1362573" y="292409"/>
                  </a:lnTo>
                  <a:cubicBezTo>
                    <a:pt x="1362573" y="386271"/>
                    <a:pt x="1286483" y="462361"/>
                    <a:pt x="1192622" y="462361"/>
                  </a:cubicBezTo>
                  <a:lnTo>
                    <a:pt x="169951" y="462361"/>
                  </a:lnTo>
                  <a:cubicBezTo>
                    <a:pt x="76090" y="462361"/>
                    <a:pt x="0" y="386271"/>
                    <a:pt x="0" y="292409"/>
                  </a:cubicBezTo>
                  <a:lnTo>
                    <a:pt x="0" y="169951"/>
                  </a:lnTo>
                  <a:cubicBezTo>
                    <a:pt x="0" y="76090"/>
                    <a:pt x="76090" y="0"/>
                    <a:pt x="169951" y="0"/>
                  </a:cubicBezTo>
                  <a:close/>
                </a:path>
              </a:pathLst>
            </a:custGeom>
            <a:solidFill>
              <a:srgbClr val="FFFB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62573" cy="509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56967" y="2669572"/>
            <a:ext cx="5807811" cy="1451426"/>
            <a:chOff x="0" y="0"/>
            <a:chExt cx="1470545" cy="3675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0545" cy="367503"/>
            </a:xfrm>
            <a:custGeom>
              <a:avLst/>
              <a:gdLst/>
              <a:ahLst/>
              <a:cxnLst/>
              <a:rect l="l" t="t" r="r" b="b"/>
              <a:pathLst>
                <a:path w="1470545" h="367503">
                  <a:moveTo>
                    <a:pt x="133302" y="0"/>
                  </a:moveTo>
                  <a:lnTo>
                    <a:pt x="1337243" y="0"/>
                  </a:lnTo>
                  <a:cubicBezTo>
                    <a:pt x="1410864" y="0"/>
                    <a:pt x="1470545" y="59681"/>
                    <a:pt x="1470545" y="133302"/>
                  </a:cubicBezTo>
                  <a:lnTo>
                    <a:pt x="1470545" y="234201"/>
                  </a:lnTo>
                  <a:cubicBezTo>
                    <a:pt x="1470545" y="307822"/>
                    <a:pt x="1410864" y="367503"/>
                    <a:pt x="1337243" y="367503"/>
                  </a:cubicBezTo>
                  <a:lnTo>
                    <a:pt x="133302" y="367503"/>
                  </a:lnTo>
                  <a:cubicBezTo>
                    <a:pt x="59681" y="367503"/>
                    <a:pt x="0" y="307822"/>
                    <a:pt x="0" y="234201"/>
                  </a:cubicBezTo>
                  <a:lnTo>
                    <a:pt x="0" y="133302"/>
                  </a:lnTo>
                  <a:cubicBezTo>
                    <a:pt x="0" y="59681"/>
                    <a:pt x="59681" y="0"/>
                    <a:pt x="1333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1840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70545" cy="405603"/>
            </a:xfrm>
            <a:prstGeom prst="rect">
              <a:avLst/>
            </a:prstGeom>
          </p:spPr>
          <p:txBody>
            <a:bodyPr lIns="47020" tIns="47020" rIns="47020" bIns="4702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56967" y="4488408"/>
            <a:ext cx="5807811" cy="1365597"/>
            <a:chOff x="0" y="0"/>
            <a:chExt cx="1470545" cy="3457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70545" cy="345771"/>
            </a:xfrm>
            <a:custGeom>
              <a:avLst/>
              <a:gdLst/>
              <a:ahLst/>
              <a:cxnLst/>
              <a:rect l="l" t="t" r="r" b="b"/>
              <a:pathLst>
                <a:path w="1470545" h="345771">
                  <a:moveTo>
                    <a:pt x="133302" y="0"/>
                  </a:moveTo>
                  <a:lnTo>
                    <a:pt x="1337243" y="0"/>
                  </a:lnTo>
                  <a:cubicBezTo>
                    <a:pt x="1410864" y="0"/>
                    <a:pt x="1470545" y="59681"/>
                    <a:pt x="1470545" y="133302"/>
                  </a:cubicBezTo>
                  <a:lnTo>
                    <a:pt x="1470545" y="212469"/>
                  </a:lnTo>
                  <a:cubicBezTo>
                    <a:pt x="1470545" y="286090"/>
                    <a:pt x="1410864" y="345771"/>
                    <a:pt x="1337243" y="345771"/>
                  </a:cubicBezTo>
                  <a:lnTo>
                    <a:pt x="133302" y="345771"/>
                  </a:lnTo>
                  <a:cubicBezTo>
                    <a:pt x="59681" y="345771"/>
                    <a:pt x="0" y="286090"/>
                    <a:pt x="0" y="212469"/>
                  </a:cubicBezTo>
                  <a:lnTo>
                    <a:pt x="0" y="133302"/>
                  </a:lnTo>
                  <a:cubicBezTo>
                    <a:pt x="0" y="59681"/>
                    <a:pt x="59681" y="0"/>
                    <a:pt x="1333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70545" cy="383871"/>
            </a:xfrm>
            <a:prstGeom prst="rect">
              <a:avLst/>
            </a:prstGeom>
          </p:spPr>
          <p:txBody>
            <a:bodyPr lIns="47020" tIns="47020" rIns="47020" bIns="4702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56967" y="8129536"/>
            <a:ext cx="5807811" cy="1451426"/>
            <a:chOff x="0" y="0"/>
            <a:chExt cx="1470545" cy="3675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70545" cy="367503"/>
            </a:xfrm>
            <a:custGeom>
              <a:avLst/>
              <a:gdLst/>
              <a:ahLst/>
              <a:cxnLst/>
              <a:rect l="l" t="t" r="r" b="b"/>
              <a:pathLst>
                <a:path w="1470545" h="367503">
                  <a:moveTo>
                    <a:pt x="133302" y="0"/>
                  </a:moveTo>
                  <a:lnTo>
                    <a:pt x="1337243" y="0"/>
                  </a:lnTo>
                  <a:cubicBezTo>
                    <a:pt x="1410864" y="0"/>
                    <a:pt x="1470545" y="59681"/>
                    <a:pt x="1470545" y="133302"/>
                  </a:cubicBezTo>
                  <a:lnTo>
                    <a:pt x="1470545" y="234201"/>
                  </a:lnTo>
                  <a:cubicBezTo>
                    <a:pt x="1470545" y="307822"/>
                    <a:pt x="1410864" y="367503"/>
                    <a:pt x="1337243" y="367503"/>
                  </a:cubicBezTo>
                  <a:lnTo>
                    <a:pt x="133302" y="367503"/>
                  </a:lnTo>
                  <a:cubicBezTo>
                    <a:pt x="59681" y="367503"/>
                    <a:pt x="0" y="307822"/>
                    <a:pt x="0" y="234201"/>
                  </a:cubicBezTo>
                  <a:lnTo>
                    <a:pt x="0" y="133302"/>
                  </a:lnTo>
                  <a:cubicBezTo>
                    <a:pt x="0" y="59681"/>
                    <a:pt x="59681" y="0"/>
                    <a:pt x="1333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70545" cy="405603"/>
            </a:xfrm>
            <a:prstGeom prst="rect">
              <a:avLst/>
            </a:prstGeom>
          </p:spPr>
          <p:txBody>
            <a:bodyPr lIns="47020" tIns="47020" rIns="47020" bIns="4702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61215" y="6220592"/>
            <a:ext cx="5807811" cy="1492832"/>
            <a:chOff x="0" y="0"/>
            <a:chExt cx="1470545" cy="3779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70545" cy="377987"/>
            </a:xfrm>
            <a:custGeom>
              <a:avLst/>
              <a:gdLst/>
              <a:ahLst/>
              <a:cxnLst/>
              <a:rect l="l" t="t" r="r" b="b"/>
              <a:pathLst>
                <a:path w="1470545" h="377987">
                  <a:moveTo>
                    <a:pt x="133302" y="0"/>
                  </a:moveTo>
                  <a:lnTo>
                    <a:pt x="1337243" y="0"/>
                  </a:lnTo>
                  <a:cubicBezTo>
                    <a:pt x="1410864" y="0"/>
                    <a:pt x="1470545" y="59681"/>
                    <a:pt x="1470545" y="133302"/>
                  </a:cubicBezTo>
                  <a:lnTo>
                    <a:pt x="1470545" y="244685"/>
                  </a:lnTo>
                  <a:cubicBezTo>
                    <a:pt x="1470545" y="280039"/>
                    <a:pt x="1456501" y="313945"/>
                    <a:pt x="1431502" y="338944"/>
                  </a:cubicBezTo>
                  <a:cubicBezTo>
                    <a:pt x="1406503" y="363943"/>
                    <a:pt x="1372597" y="377987"/>
                    <a:pt x="1337243" y="377987"/>
                  </a:cubicBezTo>
                  <a:lnTo>
                    <a:pt x="133302" y="377987"/>
                  </a:lnTo>
                  <a:cubicBezTo>
                    <a:pt x="59681" y="377987"/>
                    <a:pt x="0" y="318306"/>
                    <a:pt x="0" y="244685"/>
                  </a:cubicBezTo>
                  <a:lnTo>
                    <a:pt x="0" y="133302"/>
                  </a:lnTo>
                  <a:cubicBezTo>
                    <a:pt x="0" y="59681"/>
                    <a:pt x="59681" y="0"/>
                    <a:pt x="1333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1840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70545" cy="416087"/>
            </a:xfrm>
            <a:prstGeom prst="rect">
              <a:avLst/>
            </a:prstGeom>
          </p:spPr>
          <p:txBody>
            <a:bodyPr lIns="47020" tIns="47020" rIns="47020" bIns="4702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10800000">
            <a:off x="6310772" y="-5858141"/>
            <a:ext cx="6580954" cy="6580954"/>
          </a:xfrm>
          <a:custGeom>
            <a:avLst/>
            <a:gdLst/>
            <a:ahLst/>
            <a:cxnLst/>
            <a:rect l="l" t="t" r="r" b="b"/>
            <a:pathLst>
              <a:path w="6580954" h="6580954">
                <a:moveTo>
                  <a:pt x="0" y="0"/>
                </a:moveTo>
                <a:lnTo>
                  <a:pt x="6580954" y="0"/>
                </a:lnTo>
                <a:lnTo>
                  <a:pt x="6580954" y="6580954"/>
                </a:lnTo>
                <a:lnTo>
                  <a:pt x="0" y="65809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7553438" y="3155460"/>
            <a:ext cx="7777" cy="5439007"/>
          </a:xfrm>
          <a:prstGeom prst="line">
            <a:avLst/>
          </a:prstGeom>
          <a:ln w="38100" cap="flat">
            <a:solidFill>
              <a:srgbClr val="FFF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6298290" y="4953338"/>
            <a:ext cx="1262925" cy="0"/>
          </a:xfrm>
          <a:prstGeom prst="line">
            <a:avLst/>
          </a:prstGeom>
          <a:ln w="38100" cap="flat">
            <a:solidFill>
              <a:srgbClr val="FFF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6298290" y="6794860"/>
            <a:ext cx="1262925" cy="0"/>
          </a:xfrm>
          <a:prstGeom prst="line">
            <a:avLst/>
          </a:prstGeom>
          <a:ln w="38100" cap="flat">
            <a:solidFill>
              <a:srgbClr val="FFF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137722" y="5960822"/>
            <a:ext cx="433732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13A6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Main Business Problems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56274" y="2979526"/>
            <a:ext cx="4905459" cy="118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3"/>
              </a:lnSpc>
            </a:pPr>
            <a:r>
              <a:rPr lang="en-US" sz="2288">
                <a:solidFill>
                  <a:srgbClr val="DDDCD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1.    Manual Stock Counting and Order Processing</a:t>
            </a:r>
          </a:p>
          <a:p>
            <a:pPr algn="ctr">
              <a:lnSpc>
                <a:spcPts val="3203"/>
              </a:lnSpc>
            </a:pPr>
            <a:endParaRPr lang="en-US" sz="2288">
              <a:solidFill>
                <a:srgbClr val="DDDCD8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07232" y="4201559"/>
            <a:ext cx="4965444" cy="1783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8"/>
              </a:lnSpc>
            </a:pPr>
            <a:endParaRPr/>
          </a:p>
          <a:p>
            <a:pPr algn="ctr">
              <a:lnSpc>
                <a:spcPts val="3548"/>
              </a:lnSpc>
            </a:pPr>
            <a:r>
              <a:rPr lang="en-US" sz="2534">
                <a:solidFill>
                  <a:srgbClr val="DDDCD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2.   Difficulty in Forecasting Stock Requirements</a:t>
            </a:r>
          </a:p>
          <a:p>
            <a:pPr algn="ctr">
              <a:lnSpc>
                <a:spcPts val="3548"/>
              </a:lnSpc>
            </a:pPr>
            <a:endParaRPr lang="en-US" sz="2534">
              <a:solidFill>
                <a:srgbClr val="DDDCD8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995792" y="8408749"/>
            <a:ext cx="4905459" cy="118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3"/>
              </a:lnSpc>
            </a:pPr>
            <a:r>
              <a:rPr lang="en-US" sz="2288">
                <a:solidFill>
                  <a:srgbClr val="DDDCD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4.  Data Security and Inaccuracy Risks</a:t>
            </a:r>
          </a:p>
          <a:p>
            <a:pPr algn="ctr">
              <a:lnSpc>
                <a:spcPts val="3203"/>
              </a:lnSpc>
            </a:pPr>
            <a:endParaRPr lang="en-US" sz="2288">
              <a:solidFill>
                <a:srgbClr val="DDDCD8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858403" y="5960822"/>
            <a:ext cx="5338288" cy="1736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6"/>
              </a:lnSpc>
            </a:pPr>
            <a:endParaRPr/>
          </a:p>
          <a:p>
            <a:pPr algn="ctr">
              <a:lnSpc>
                <a:spcPts val="3486"/>
              </a:lnSpc>
            </a:pPr>
            <a:r>
              <a:rPr lang="en-US" sz="2490">
                <a:solidFill>
                  <a:srgbClr val="DDDCD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3.  Limited Storage Space and Inefficient Organization</a:t>
            </a:r>
          </a:p>
          <a:p>
            <a:pPr algn="ctr">
              <a:lnSpc>
                <a:spcPts val="3486"/>
              </a:lnSpc>
            </a:pPr>
            <a:endParaRPr lang="en-US" sz="2490">
              <a:solidFill>
                <a:srgbClr val="DDDCD8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7244" y="3233678"/>
            <a:ext cx="3891100" cy="6835313"/>
            <a:chOff x="0" y="0"/>
            <a:chExt cx="1013272" cy="17799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3272" cy="1779968"/>
            </a:xfrm>
            <a:custGeom>
              <a:avLst/>
              <a:gdLst/>
              <a:ahLst/>
              <a:cxnLst/>
              <a:rect l="l" t="t" r="r" b="b"/>
              <a:pathLst>
                <a:path w="1013272" h="1779968">
                  <a:moveTo>
                    <a:pt x="101472" y="0"/>
                  </a:moveTo>
                  <a:lnTo>
                    <a:pt x="911800" y="0"/>
                  </a:lnTo>
                  <a:cubicBezTo>
                    <a:pt x="938712" y="0"/>
                    <a:pt x="964522" y="10691"/>
                    <a:pt x="983551" y="29720"/>
                  </a:cubicBezTo>
                  <a:cubicBezTo>
                    <a:pt x="1002581" y="48750"/>
                    <a:pt x="1013272" y="74560"/>
                    <a:pt x="1013272" y="101472"/>
                  </a:cubicBezTo>
                  <a:lnTo>
                    <a:pt x="1013272" y="1678495"/>
                  </a:lnTo>
                  <a:cubicBezTo>
                    <a:pt x="1013272" y="1705408"/>
                    <a:pt x="1002581" y="1731217"/>
                    <a:pt x="983551" y="1750247"/>
                  </a:cubicBezTo>
                  <a:cubicBezTo>
                    <a:pt x="964522" y="1769277"/>
                    <a:pt x="938712" y="1779968"/>
                    <a:pt x="911800" y="1779968"/>
                  </a:cubicBezTo>
                  <a:lnTo>
                    <a:pt x="101472" y="1779968"/>
                  </a:lnTo>
                  <a:cubicBezTo>
                    <a:pt x="74560" y="1779968"/>
                    <a:pt x="48750" y="1769277"/>
                    <a:pt x="29720" y="1750247"/>
                  </a:cubicBezTo>
                  <a:cubicBezTo>
                    <a:pt x="10691" y="1731217"/>
                    <a:pt x="0" y="1705408"/>
                    <a:pt x="0" y="1678495"/>
                  </a:cubicBezTo>
                  <a:lnTo>
                    <a:pt x="0" y="101472"/>
                  </a:lnTo>
                  <a:cubicBezTo>
                    <a:pt x="0" y="74560"/>
                    <a:pt x="10691" y="48750"/>
                    <a:pt x="29720" y="29720"/>
                  </a:cubicBezTo>
                  <a:cubicBezTo>
                    <a:pt x="48750" y="10691"/>
                    <a:pt x="74560" y="0"/>
                    <a:pt x="1014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213A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13272" cy="181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1430" y="2940889"/>
            <a:ext cx="3082727" cy="850655"/>
            <a:chOff x="0" y="0"/>
            <a:chExt cx="802765" cy="2215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02765" cy="221517"/>
            </a:xfrm>
            <a:custGeom>
              <a:avLst/>
              <a:gdLst/>
              <a:ahLst/>
              <a:cxnLst/>
              <a:rect l="l" t="t" r="r" b="b"/>
              <a:pathLst>
                <a:path w="802765" h="221517">
                  <a:moveTo>
                    <a:pt x="110759" y="0"/>
                  </a:moveTo>
                  <a:lnTo>
                    <a:pt x="692007" y="0"/>
                  </a:lnTo>
                  <a:cubicBezTo>
                    <a:pt x="753177" y="0"/>
                    <a:pt x="802765" y="49588"/>
                    <a:pt x="802765" y="110759"/>
                  </a:cubicBezTo>
                  <a:lnTo>
                    <a:pt x="802765" y="110759"/>
                  </a:lnTo>
                  <a:cubicBezTo>
                    <a:pt x="802765" y="171929"/>
                    <a:pt x="753177" y="221517"/>
                    <a:pt x="692007" y="221517"/>
                  </a:cubicBezTo>
                  <a:lnTo>
                    <a:pt x="110759" y="221517"/>
                  </a:lnTo>
                  <a:cubicBezTo>
                    <a:pt x="49588" y="221517"/>
                    <a:pt x="0" y="171929"/>
                    <a:pt x="0" y="110759"/>
                  </a:cubicBezTo>
                  <a:lnTo>
                    <a:pt x="0" y="110759"/>
                  </a:lnTo>
                  <a:cubicBezTo>
                    <a:pt x="0" y="49588"/>
                    <a:pt x="49588" y="0"/>
                    <a:pt x="110759" y="0"/>
                  </a:cubicBezTo>
                  <a:close/>
                </a:path>
              </a:pathLst>
            </a:custGeom>
            <a:solidFill>
              <a:srgbClr val="F1840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02765" cy="25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61638" y="3341211"/>
            <a:ext cx="3878180" cy="6727781"/>
            <a:chOff x="0" y="0"/>
            <a:chExt cx="1009908" cy="17519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9908" cy="1751965"/>
            </a:xfrm>
            <a:custGeom>
              <a:avLst/>
              <a:gdLst/>
              <a:ahLst/>
              <a:cxnLst/>
              <a:rect l="l" t="t" r="r" b="b"/>
              <a:pathLst>
                <a:path w="1009908" h="1751965">
                  <a:moveTo>
                    <a:pt x="101810" y="0"/>
                  </a:moveTo>
                  <a:lnTo>
                    <a:pt x="908098" y="0"/>
                  </a:lnTo>
                  <a:cubicBezTo>
                    <a:pt x="964326" y="0"/>
                    <a:pt x="1009908" y="45582"/>
                    <a:pt x="1009908" y="101810"/>
                  </a:cubicBezTo>
                  <a:lnTo>
                    <a:pt x="1009908" y="1650155"/>
                  </a:lnTo>
                  <a:cubicBezTo>
                    <a:pt x="1009908" y="1677157"/>
                    <a:pt x="999181" y="1703053"/>
                    <a:pt x="980088" y="1722146"/>
                  </a:cubicBezTo>
                  <a:cubicBezTo>
                    <a:pt x="960995" y="1741239"/>
                    <a:pt x="935099" y="1751965"/>
                    <a:pt x="908098" y="1751965"/>
                  </a:cubicBezTo>
                  <a:lnTo>
                    <a:pt x="101810" y="1751965"/>
                  </a:lnTo>
                  <a:cubicBezTo>
                    <a:pt x="45582" y="1751965"/>
                    <a:pt x="0" y="1706383"/>
                    <a:pt x="0" y="1650155"/>
                  </a:cubicBezTo>
                  <a:lnTo>
                    <a:pt x="0" y="101810"/>
                  </a:lnTo>
                  <a:cubicBezTo>
                    <a:pt x="0" y="45582"/>
                    <a:pt x="45582" y="0"/>
                    <a:pt x="1018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1840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09908" cy="1790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38641" y="3341211"/>
            <a:ext cx="3891942" cy="6727781"/>
            <a:chOff x="0" y="0"/>
            <a:chExt cx="1013491" cy="17519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3491" cy="1751965"/>
            </a:xfrm>
            <a:custGeom>
              <a:avLst/>
              <a:gdLst/>
              <a:ahLst/>
              <a:cxnLst/>
              <a:rect l="l" t="t" r="r" b="b"/>
              <a:pathLst>
                <a:path w="1013491" h="1751965">
                  <a:moveTo>
                    <a:pt x="101450" y="0"/>
                  </a:moveTo>
                  <a:lnTo>
                    <a:pt x="912041" y="0"/>
                  </a:lnTo>
                  <a:cubicBezTo>
                    <a:pt x="938947" y="0"/>
                    <a:pt x="964752" y="10688"/>
                    <a:pt x="983777" y="29714"/>
                  </a:cubicBezTo>
                  <a:cubicBezTo>
                    <a:pt x="1002803" y="48740"/>
                    <a:pt x="1013491" y="74544"/>
                    <a:pt x="1013491" y="101450"/>
                  </a:cubicBezTo>
                  <a:lnTo>
                    <a:pt x="1013491" y="1650515"/>
                  </a:lnTo>
                  <a:cubicBezTo>
                    <a:pt x="1013491" y="1706544"/>
                    <a:pt x="968071" y="1751965"/>
                    <a:pt x="912041" y="1751965"/>
                  </a:cubicBezTo>
                  <a:lnTo>
                    <a:pt x="101450" y="1751965"/>
                  </a:lnTo>
                  <a:cubicBezTo>
                    <a:pt x="45421" y="1751965"/>
                    <a:pt x="0" y="1706544"/>
                    <a:pt x="0" y="1650515"/>
                  </a:cubicBezTo>
                  <a:lnTo>
                    <a:pt x="0" y="101450"/>
                  </a:lnTo>
                  <a:cubicBezTo>
                    <a:pt x="0" y="45421"/>
                    <a:pt x="45421" y="0"/>
                    <a:pt x="101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213A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13491" cy="1790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648814" y="3341211"/>
            <a:ext cx="3891942" cy="6727781"/>
            <a:chOff x="0" y="0"/>
            <a:chExt cx="1013491" cy="17519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13491" cy="1751965"/>
            </a:xfrm>
            <a:custGeom>
              <a:avLst/>
              <a:gdLst/>
              <a:ahLst/>
              <a:cxnLst/>
              <a:rect l="l" t="t" r="r" b="b"/>
              <a:pathLst>
                <a:path w="1013491" h="1751965">
                  <a:moveTo>
                    <a:pt x="101450" y="0"/>
                  </a:moveTo>
                  <a:lnTo>
                    <a:pt x="912041" y="0"/>
                  </a:lnTo>
                  <a:cubicBezTo>
                    <a:pt x="938947" y="0"/>
                    <a:pt x="964752" y="10688"/>
                    <a:pt x="983777" y="29714"/>
                  </a:cubicBezTo>
                  <a:cubicBezTo>
                    <a:pt x="1002803" y="48740"/>
                    <a:pt x="1013491" y="74544"/>
                    <a:pt x="1013491" y="101450"/>
                  </a:cubicBezTo>
                  <a:lnTo>
                    <a:pt x="1013491" y="1650515"/>
                  </a:lnTo>
                  <a:cubicBezTo>
                    <a:pt x="1013491" y="1706544"/>
                    <a:pt x="968071" y="1751965"/>
                    <a:pt x="912041" y="1751965"/>
                  </a:cubicBezTo>
                  <a:lnTo>
                    <a:pt x="101450" y="1751965"/>
                  </a:lnTo>
                  <a:cubicBezTo>
                    <a:pt x="45421" y="1751965"/>
                    <a:pt x="0" y="1706544"/>
                    <a:pt x="0" y="1650515"/>
                  </a:cubicBezTo>
                  <a:lnTo>
                    <a:pt x="0" y="101450"/>
                  </a:lnTo>
                  <a:cubicBezTo>
                    <a:pt x="0" y="45421"/>
                    <a:pt x="45421" y="0"/>
                    <a:pt x="101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1840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13491" cy="1790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59365" y="2940889"/>
            <a:ext cx="3082727" cy="850655"/>
            <a:chOff x="0" y="0"/>
            <a:chExt cx="802765" cy="2215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2765" cy="221517"/>
            </a:xfrm>
            <a:custGeom>
              <a:avLst/>
              <a:gdLst/>
              <a:ahLst/>
              <a:cxnLst/>
              <a:rect l="l" t="t" r="r" b="b"/>
              <a:pathLst>
                <a:path w="802765" h="221517">
                  <a:moveTo>
                    <a:pt x="110759" y="0"/>
                  </a:moveTo>
                  <a:lnTo>
                    <a:pt x="692007" y="0"/>
                  </a:lnTo>
                  <a:cubicBezTo>
                    <a:pt x="753177" y="0"/>
                    <a:pt x="802765" y="49588"/>
                    <a:pt x="802765" y="110759"/>
                  </a:cubicBezTo>
                  <a:lnTo>
                    <a:pt x="802765" y="110759"/>
                  </a:lnTo>
                  <a:cubicBezTo>
                    <a:pt x="802765" y="171929"/>
                    <a:pt x="753177" y="221517"/>
                    <a:pt x="692007" y="221517"/>
                  </a:cubicBezTo>
                  <a:lnTo>
                    <a:pt x="110759" y="221517"/>
                  </a:lnTo>
                  <a:cubicBezTo>
                    <a:pt x="49588" y="221517"/>
                    <a:pt x="0" y="171929"/>
                    <a:pt x="0" y="110759"/>
                  </a:cubicBezTo>
                  <a:lnTo>
                    <a:pt x="0" y="110759"/>
                  </a:lnTo>
                  <a:cubicBezTo>
                    <a:pt x="0" y="49588"/>
                    <a:pt x="49588" y="0"/>
                    <a:pt x="110759" y="0"/>
                  </a:cubicBezTo>
                  <a:close/>
                </a:path>
              </a:pathLst>
            </a:custGeom>
            <a:solidFill>
              <a:srgbClr val="213A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02765" cy="25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43249" y="2940889"/>
            <a:ext cx="3082727" cy="850655"/>
            <a:chOff x="0" y="0"/>
            <a:chExt cx="802765" cy="22151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02765" cy="221517"/>
            </a:xfrm>
            <a:custGeom>
              <a:avLst/>
              <a:gdLst/>
              <a:ahLst/>
              <a:cxnLst/>
              <a:rect l="l" t="t" r="r" b="b"/>
              <a:pathLst>
                <a:path w="802765" h="221517">
                  <a:moveTo>
                    <a:pt x="110759" y="0"/>
                  </a:moveTo>
                  <a:lnTo>
                    <a:pt x="692007" y="0"/>
                  </a:lnTo>
                  <a:cubicBezTo>
                    <a:pt x="753177" y="0"/>
                    <a:pt x="802765" y="49588"/>
                    <a:pt x="802765" y="110759"/>
                  </a:cubicBezTo>
                  <a:lnTo>
                    <a:pt x="802765" y="110759"/>
                  </a:lnTo>
                  <a:cubicBezTo>
                    <a:pt x="802765" y="171929"/>
                    <a:pt x="753177" y="221517"/>
                    <a:pt x="692007" y="221517"/>
                  </a:cubicBezTo>
                  <a:lnTo>
                    <a:pt x="110759" y="221517"/>
                  </a:lnTo>
                  <a:cubicBezTo>
                    <a:pt x="49588" y="221517"/>
                    <a:pt x="0" y="171929"/>
                    <a:pt x="0" y="110759"/>
                  </a:cubicBezTo>
                  <a:lnTo>
                    <a:pt x="0" y="110759"/>
                  </a:lnTo>
                  <a:cubicBezTo>
                    <a:pt x="0" y="49588"/>
                    <a:pt x="49588" y="0"/>
                    <a:pt x="110759" y="0"/>
                  </a:cubicBezTo>
                  <a:close/>
                </a:path>
              </a:pathLst>
            </a:custGeom>
            <a:solidFill>
              <a:srgbClr val="F1840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02765" cy="25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053422" y="2940889"/>
            <a:ext cx="3082727" cy="850655"/>
            <a:chOff x="0" y="0"/>
            <a:chExt cx="802765" cy="22151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02765" cy="221517"/>
            </a:xfrm>
            <a:custGeom>
              <a:avLst/>
              <a:gdLst/>
              <a:ahLst/>
              <a:cxnLst/>
              <a:rect l="l" t="t" r="r" b="b"/>
              <a:pathLst>
                <a:path w="802765" h="221517">
                  <a:moveTo>
                    <a:pt x="110759" y="0"/>
                  </a:moveTo>
                  <a:lnTo>
                    <a:pt x="692007" y="0"/>
                  </a:lnTo>
                  <a:cubicBezTo>
                    <a:pt x="753177" y="0"/>
                    <a:pt x="802765" y="49588"/>
                    <a:pt x="802765" y="110759"/>
                  </a:cubicBezTo>
                  <a:lnTo>
                    <a:pt x="802765" y="110759"/>
                  </a:lnTo>
                  <a:cubicBezTo>
                    <a:pt x="802765" y="171929"/>
                    <a:pt x="753177" y="221517"/>
                    <a:pt x="692007" y="221517"/>
                  </a:cubicBezTo>
                  <a:lnTo>
                    <a:pt x="110759" y="221517"/>
                  </a:lnTo>
                  <a:cubicBezTo>
                    <a:pt x="49588" y="221517"/>
                    <a:pt x="0" y="171929"/>
                    <a:pt x="0" y="110759"/>
                  </a:cubicBezTo>
                  <a:lnTo>
                    <a:pt x="0" y="110759"/>
                  </a:lnTo>
                  <a:cubicBezTo>
                    <a:pt x="0" y="49588"/>
                    <a:pt x="49588" y="0"/>
                    <a:pt x="110759" y="0"/>
                  </a:cubicBezTo>
                  <a:close/>
                </a:path>
              </a:pathLst>
            </a:custGeom>
            <a:solidFill>
              <a:srgbClr val="213A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02765" cy="25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4186566" y="3804062"/>
            <a:ext cx="2841514" cy="547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1"/>
              </a:lnSpc>
              <a:spcBef>
                <a:spcPct val="0"/>
              </a:spcBef>
            </a:pPr>
            <a:r>
              <a:rPr lang="en-US" sz="242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Prescriptive this type of analytics to recommend future stock levels (in liters), suggest supplier shifts based on damage rates, and identify underperforming products and areas for promotional campaigns.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4333" y="3031715"/>
            <a:ext cx="2461930" cy="55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1"/>
              </a:lnSpc>
            </a:pPr>
            <a:r>
              <a:rPr lang="en-US" sz="3236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Descriptive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6945" y="4213028"/>
            <a:ext cx="2791718" cy="3184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1"/>
              </a:lnSpc>
            </a:pPr>
            <a:r>
              <a:rPr lang="en-US" sz="242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sales, total profit, total bottles sold, and the top-performing products and categories.</a:t>
            </a:r>
          </a:p>
          <a:p>
            <a:pPr marL="0" lvl="0" indent="0" algn="ctr">
              <a:lnSpc>
                <a:spcPts val="3641"/>
              </a:lnSpc>
              <a:spcBef>
                <a:spcPct val="0"/>
              </a:spcBef>
            </a:pPr>
            <a:endParaRPr lang="en-US" sz="2427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619567" y="3960988"/>
            <a:ext cx="2922525" cy="409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1"/>
              </a:lnSpc>
              <a:spcBef>
                <a:spcPct val="0"/>
              </a:spcBef>
            </a:pPr>
            <a:r>
              <a:rPr lang="en-US" sz="242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Damage rates by supplier, analyze sales losses due to product damages, and understand the difference in performance between brands.</a:t>
            </a:r>
          </a:p>
          <a:p>
            <a:pPr marL="0" lvl="0" indent="0" algn="ctr">
              <a:lnSpc>
                <a:spcPts val="3641"/>
              </a:lnSpc>
              <a:spcBef>
                <a:spcPct val="0"/>
              </a:spcBef>
            </a:pPr>
            <a:endParaRPr lang="en-US" sz="2427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926089" y="4213028"/>
            <a:ext cx="2731778" cy="2726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1"/>
              </a:lnSpc>
              <a:spcBef>
                <a:spcPct val="0"/>
              </a:spcBef>
            </a:pPr>
            <a:r>
              <a:rPr lang="en-US" sz="242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predictive  type of analytics use to identify  historical trends to forecast upcoming events or behavior.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82917" y="3031715"/>
            <a:ext cx="2635623" cy="55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1"/>
              </a:lnSpc>
            </a:pPr>
            <a:r>
              <a:rPr lang="en-US" sz="3236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Diagnostics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39863" y="3056456"/>
            <a:ext cx="3308907" cy="55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1"/>
              </a:lnSpc>
            </a:pPr>
            <a:r>
              <a:rPr lang="en-US" sz="3236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Predictive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25959" y="3056456"/>
            <a:ext cx="2702121" cy="55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1"/>
              </a:lnSpc>
            </a:pPr>
            <a:r>
              <a:rPr lang="en-US" sz="3236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Prescriptive </a:t>
            </a:r>
          </a:p>
        </p:txBody>
      </p:sp>
      <p:sp>
        <p:nvSpPr>
          <p:cNvPr id="34" name="Freeform 34"/>
          <p:cNvSpPr/>
          <p:nvPr/>
        </p:nvSpPr>
        <p:spPr>
          <a:xfrm rot="-1676819" flipV="1">
            <a:off x="15187394" y="764773"/>
            <a:ext cx="3889237" cy="2340613"/>
          </a:xfrm>
          <a:custGeom>
            <a:avLst/>
            <a:gdLst/>
            <a:ahLst/>
            <a:cxnLst/>
            <a:rect l="l" t="t" r="r" b="b"/>
            <a:pathLst>
              <a:path w="3889237" h="2340613">
                <a:moveTo>
                  <a:pt x="0" y="2340614"/>
                </a:moveTo>
                <a:lnTo>
                  <a:pt x="3889237" y="2340614"/>
                </a:lnTo>
                <a:lnTo>
                  <a:pt x="3889237" y="0"/>
                </a:lnTo>
                <a:lnTo>
                  <a:pt x="0" y="0"/>
                </a:lnTo>
                <a:lnTo>
                  <a:pt x="0" y="2340614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2222112" y="362154"/>
            <a:ext cx="12192855" cy="212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0"/>
              </a:lnSpc>
              <a:spcBef>
                <a:spcPct val="0"/>
              </a:spcBef>
            </a:pPr>
            <a:r>
              <a:rPr lang="en-US" sz="6100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Analytics Type used to Solve the Problem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1161" y="937688"/>
            <a:ext cx="11520176" cy="104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540"/>
              </a:lnSpc>
              <a:spcBef>
                <a:spcPct val="0"/>
              </a:spcBef>
            </a:pPr>
            <a:r>
              <a:rPr lang="en-US" sz="6100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AND METHOD USED</a:t>
            </a:r>
          </a:p>
        </p:txBody>
      </p:sp>
      <p:sp>
        <p:nvSpPr>
          <p:cNvPr id="3" name="Freeform 3"/>
          <p:cNvSpPr/>
          <p:nvPr/>
        </p:nvSpPr>
        <p:spPr>
          <a:xfrm rot="-10800000">
            <a:off x="6310772" y="-5858141"/>
            <a:ext cx="6580954" cy="6580954"/>
          </a:xfrm>
          <a:custGeom>
            <a:avLst/>
            <a:gdLst/>
            <a:ahLst/>
            <a:cxnLst/>
            <a:rect l="l" t="t" r="r" b="b"/>
            <a:pathLst>
              <a:path w="6580954" h="6580954">
                <a:moveTo>
                  <a:pt x="0" y="0"/>
                </a:moveTo>
                <a:lnTo>
                  <a:pt x="6580954" y="0"/>
                </a:lnTo>
                <a:lnTo>
                  <a:pt x="6580954" y="6580954"/>
                </a:lnTo>
                <a:lnTo>
                  <a:pt x="0" y="658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37722" y="5960822"/>
            <a:ext cx="433732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213A6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Main Business Problems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8405" y="2413848"/>
            <a:ext cx="16005687" cy="516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just">
              <a:lnSpc>
                <a:spcPts val="599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JJ_Trading_Sales_Data.xlsx:</a:t>
            </a: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This file contained structured sales transaction records, including product, quantity, selling price, date, and customer details.</a:t>
            </a:r>
          </a:p>
          <a:p>
            <a:pPr marL="518157" lvl="1" indent="-259078" algn="just">
              <a:lnSpc>
                <a:spcPts val="599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JJ_Trading_Customers.xlsx</a:t>
            </a: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: This dataset included information about customers, such as names and addresses in areas like Homagama, Kottawa, Pitipana, and Maharagama.</a:t>
            </a:r>
          </a:p>
          <a:p>
            <a:pPr marL="518157" lvl="1" indent="-259078" algn="just">
              <a:lnSpc>
                <a:spcPts val="599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JJ_Trading_Suppliers.xlsx:</a:t>
            </a: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This file listed supplier information, including supplier names and the brands they supplied (e.g., Elephant House, Crystal, JJ Bottles).</a:t>
            </a:r>
          </a:p>
          <a:p>
            <a:pPr marL="518157" lvl="1" indent="-259078" algn="just">
              <a:lnSpc>
                <a:spcPts val="599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JJ_Trading_Distributor_Shipments.xlsx: </a:t>
            </a: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This dataset captured stock received from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25154" y="8268335"/>
            <a:ext cx="5437693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Here we have uploaded Data set , which we used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JJ Trading Excel Data Set – </a:t>
            </a:r>
            <a:r>
              <a:rPr lang="en-US" sz="1899" u="sng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  <a:hlinkClick r:id="rId4" tooltip="https://drive.google.com/file/d/1VuK667KKdaJ7X3OGhnuVNOuJNYv_04XD/view?usp=sharing"/>
              </a:rPr>
              <a:t>Google Drive</a:t>
            </a:r>
          </a:p>
        </p:txBody>
      </p:sp>
      <p:sp>
        <p:nvSpPr>
          <p:cNvPr id="7" name="Freeform 7"/>
          <p:cNvSpPr/>
          <p:nvPr/>
        </p:nvSpPr>
        <p:spPr>
          <a:xfrm rot="-671621" flipH="1">
            <a:off x="-1880246" y="7805338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4775736" y="0"/>
                </a:moveTo>
                <a:lnTo>
                  <a:pt x="0" y="0"/>
                </a:lnTo>
                <a:lnTo>
                  <a:pt x="0" y="2874125"/>
                </a:lnTo>
                <a:lnTo>
                  <a:pt x="4775736" y="2874125"/>
                </a:lnTo>
                <a:lnTo>
                  <a:pt x="4775736" y="0"/>
                </a:lnTo>
                <a:close/>
              </a:path>
            </a:pathLst>
          </a:custGeom>
          <a:blipFill>
            <a:blip r:embed="rId5">
              <a:alphaModFix amt="1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9008" y="702072"/>
            <a:ext cx="14329984" cy="1038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Preprocessing Steps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859619" y="2360650"/>
            <a:ext cx="15399681" cy="6513985"/>
            <a:chOff x="0" y="0"/>
            <a:chExt cx="4055883" cy="17156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5883" cy="1715618"/>
            </a:xfrm>
            <a:custGeom>
              <a:avLst/>
              <a:gdLst/>
              <a:ahLst/>
              <a:cxnLst/>
              <a:rect l="l" t="t" r="r" b="b"/>
              <a:pathLst>
                <a:path w="4055883" h="1715618">
                  <a:moveTo>
                    <a:pt x="25639" y="0"/>
                  </a:moveTo>
                  <a:lnTo>
                    <a:pt x="4030244" y="0"/>
                  </a:lnTo>
                  <a:cubicBezTo>
                    <a:pt x="4044404" y="0"/>
                    <a:pt x="4055883" y="11479"/>
                    <a:pt x="4055883" y="25639"/>
                  </a:cubicBezTo>
                  <a:lnTo>
                    <a:pt x="4055883" y="1689978"/>
                  </a:lnTo>
                  <a:cubicBezTo>
                    <a:pt x="4055883" y="1696778"/>
                    <a:pt x="4053182" y="1703300"/>
                    <a:pt x="4048373" y="1708108"/>
                  </a:cubicBezTo>
                  <a:cubicBezTo>
                    <a:pt x="4043565" y="1712916"/>
                    <a:pt x="4037044" y="1715618"/>
                    <a:pt x="4030244" y="1715618"/>
                  </a:cubicBezTo>
                  <a:lnTo>
                    <a:pt x="25639" y="1715618"/>
                  </a:lnTo>
                  <a:cubicBezTo>
                    <a:pt x="11479" y="1715618"/>
                    <a:pt x="0" y="1704138"/>
                    <a:pt x="0" y="1689978"/>
                  </a:cubicBezTo>
                  <a:lnTo>
                    <a:pt x="0" y="25639"/>
                  </a:lnTo>
                  <a:cubicBezTo>
                    <a:pt x="0" y="11479"/>
                    <a:pt x="11479" y="0"/>
                    <a:pt x="256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00025"/>
              <a:ext cx="4055883" cy="191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746" lvl="1" indent="-269873" algn="just">
                <a:lnSpc>
                  <a:spcPts val="50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Source Connection – Connected the Excel file to Power BI and loaded the Sales_Data sheet.</a:t>
              </a:r>
            </a:p>
            <a:p>
              <a:pPr marL="539746" lvl="1" indent="-269873" algn="just">
                <a:lnSpc>
                  <a:spcPts val="50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Promoted Headers – Converted the first row of the dataset into column headers.</a:t>
              </a:r>
            </a:p>
            <a:p>
              <a:pPr marL="539746" lvl="1" indent="-269873" algn="just">
                <a:lnSpc>
                  <a:spcPts val="50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Data Type Changed – Assigned correct data types to each column (Ex: text for product names, decimal for prices, date for the transaction date).</a:t>
              </a:r>
            </a:p>
            <a:p>
              <a:pPr marL="539746" lvl="1" indent="-269873" algn="just">
                <a:lnSpc>
                  <a:spcPts val="50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Removed Errors – Filtered out any rows that contained data type or formula errors.</a:t>
              </a:r>
            </a:p>
            <a:p>
              <a:pPr marL="539746" lvl="1" indent="-269873" algn="just">
                <a:lnSpc>
                  <a:spcPts val="50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Removed Duplicates – Removed any duplicate sales records based on Order ID or full row values.</a:t>
              </a:r>
            </a:p>
            <a:p>
              <a:pPr marL="539746" lvl="1" indent="-269873" algn="just">
                <a:lnSpc>
                  <a:spcPts val="50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Removed Blank Rows – Deleted rows where all fields were empty to keep the dataset clean.</a:t>
              </a:r>
            </a:p>
            <a:p>
              <a:pPr marL="539746" lvl="1" indent="-269873" algn="just">
                <a:lnSpc>
                  <a:spcPts val="50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Replaced Values – Performed a several of value replacements:</a:t>
              </a:r>
            </a:p>
            <a:p>
              <a:pPr algn="just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marL="539746" lvl="1" indent="-269873" algn="just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Removed Unnecessary Columns </a:t>
              </a:r>
            </a:p>
            <a:p>
              <a:pPr algn="just">
                <a:lnSpc>
                  <a:spcPts val="2939"/>
                </a:lnSpc>
              </a:pPr>
              <a:endParaRPr lang="en-US" sz="24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16768" y="2192388"/>
            <a:ext cx="11583710" cy="7471493"/>
          </a:xfrm>
          <a:custGeom>
            <a:avLst/>
            <a:gdLst/>
            <a:ahLst/>
            <a:cxnLst/>
            <a:rect l="l" t="t" r="r" b="b"/>
            <a:pathLst>
              <a:path w="11583710" h="7471493">
                <a:moveTo>
                  <a:pt x="0" y="0"/>
                </a:moveTo>
                <a:lnTo>
                  <a:pt x="11583711" y="0"/>
                </a:lnTo>
                <a:lnTo>
                  <a:pt x="11583711" y="7471493"/>
                </a:lnTo>
                <a:lnTo>
                  <a:pt x="0" y="7471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16768" y="401640"/>
            <a:ext cx="11254463" cy="112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Model View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0231" y="1028700"/>
            <a:ext cx="6320582" cy="1894696"/>
            <a:chOff x="0" y="0"/>
            <a:chExt cx="1664680" cy="499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4680" cy="499015"/>
            </a:xfrm>
            <a:custGeom>
              <a:avLst/>
              <a:gdLst/>
              <a:ahLst/>
              <a:cxnLst/>
              <a:rect l="l" t="t" r="r" b="b"/>
              <a:pathLst>
                <a:path w="1664680" h="499015">
                  <a:moveTo>
                    <a:pt x="62469" y="0"/>
                  </a:moveTo>
                  <a:lnTo>
                    <a:pt x="1602212" y="0"/>
                  </a:lnTo>
                  <a:cubicBezTo>
                    <a:pt x="1618779" y="0"/>
                    <a:pt x="1634668" y="6581"/>
                    <a:pt x="1646384" y="18297"/>
                  </a:cubicBezTo>
                  <a:cubicBezTo>
                    <a:pt x="1658099" y="30012"/>
                    <a:pt x="1664680" y="45901"/>
                    <a:pt x="1664680" y="62469"/>
                  </a:cubicBezTo>
                  <a:lnTo>
                    <a:pt x="1664680" y="436546"/>
                  </a:lnTo>
                  <a:cubicBezTo>
                    <a:pt x="1664680" y="453114"/>
                    <a:pt x="1658099" y="469003"/>
                    <a:pt x="1646384" y="480718"/>
                  </a:cubicBezTo>
                  <a:cubicBezTo>
                    <a:pt x="1634668" y="492433"/>
                    <a:pt x="1618779" y="499015"/>
                    <a:pt x="1602212" y="499015"/>
                  </a:cubicBezTo>
                  <a:lnTo>
                    <a:pt x="62469" y="499015"/>
                  </a:lnTo>
                  <a:cubicBezTo>
                    <a:pt x="45901" y="499015"/>
                    <a:pt x="30012" y="492433"/>
                    <a:pt x="18297" y="480718"/>
                  </a:cubicBezTo>
                  <a:cubicBezTo>
                    <a:pt x="6581" y="469003"/>
                    <a:pt x="0" y="453114"/>
                    <a:pt x="0" y="436546"/>
                  </a:cubicBezTo>
                  <a:lnTo>
                    <a:pt x="0" y="62469"/>
                  </a:lnTo>
                  <a:cubicBezTo>
                    <a:pt x="0" y="45901"/>
                    <a:pt x="6581" y="30012"/>
                    <a:pt x="18297" y="18297"/>
                  </a:cubicBezTo>
                  <a:cubicBezTo>
                    <a:pt x="30012" y="6581"/>
                    <a:pt x="45901" y="0"/>
                    <a:pt x="624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64680" cy="537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995598"/>
            <a:ext cx="6417792" cy="165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8"/>
              </a:lnSpc>
            </a:pPr>
            <a:r>
              <a:rPr lang="en-US" sz="6398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Tools &amp; Software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53289" y="1689028"/>
            <a:ext cx="5447524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B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53289" y="6586869"/>
            <a:ext cx="3692182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FFFB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Streamlit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53289" y="4108695"/>
            <a:ext cx="299955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B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</a:t>
            </a:r>
          </a:p>
        </p:txBody>
      </p:sp>
      <p:sp>
        <p:nvSpPr>
          <p:cNvPr id="9" name="Freeform 9"/>
          <p:cNvSpPr/>
          <p:nvPr/>
        </p:nvSpPr>
        <p:spPr>
          <a:xfrm rot="-8383685" flipV="1">
            <a:off x="-901120" y="53898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8480231" y="3522388"/>
            <a:ext cx="6320582" cy="1894696"/>
            <a:chOff x="0" y="0"/>
            <a:chExt cx="1664680" cy="4990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64680" cy="499015"/>
            </a:xfrm>
            <a:custGeom>
              <a:avLst/>
              <a:gdLst/>
              <a:ahLst/>
              <a:cxnLst/>
              <a:rect l="l" t="t" r="r" b="b"/>
              <a:pathLst>
                <a:path w="1664680" h="499015">
                  <a:moveTo>
                    <a:pt x="62469" y="0"/>
                  </a:moveTo>
                  <a:lnTo>
                    <a:pt x="1602212" y="0"/>
                  </a:lnTo>
                  <a:cubicBezTo>
                    <a:pt x="1618779" y="0"/>
                    <a:pt x="1634668" y="6581"/>
                    <a:pt x="1646384" y="18297"/>
                  </a:cubicBezTo>
                  <a:cubicBezTo>
                    <a:pt x="1658099" y="30012"/>
                    <a:pt x="1664680" y="45901"/>
                    <a:pt x="1664680" y="62469"/>
                  </a:cubicBezTo>
                  <a:lnTo>
                    <a:pt x="1664680" y="436546"/>
                  </a:lnTo>
                  <a:cubicBezTo>
                    <a:pt x="1664680" y="453114"/>
                    <a:pt x="1658099" y="469003"/>
                    <a:pt x="1646384" y="480718"/>
                  </a:cubicBezTo>
                  <a:cubicBezTo>
                    <a:pt x="1634668" y="492433"/>
                    <a:pt x="1618779" y="499015"/>
                    <a:pt x="1602212" y="499015"/>
                  </a:cubicBezTo>
                  <a:lnTo>
                    <a:pt x="62469" y="499015"/>
                  </a:lnTo>
                  <a:cubicBezTo>
                    <a:pt x="45901" y="499015"/>
                    <a:pt x="30012" y="492433"/>
                    <a:pt x="18297" y="480718"/>
                  </a:cubicBezTo>
                  <a:cubicBezTo>
                    <a:pt x="6581" y="469003"/>
                    <a:pt x="0" y="453114"/>
                    <a:pt x="0" y="436546"/>
                  </a:cubicBezTo>
                  <a:lnTo>
                    <a:pt x="0" y="62469"/>
                  </a:lnTo>
                  <a:cubicBezTo>
                    <a:pt x="0" y="45901"/>
                    <a:pt x="6581" y="30012"/>
                    <a:pt x="18297" y="18297"/>
                  </a:cubicBezTo>
                  <a:cubicBezTo>
                    <a:pt x="30012" y="6581"/>
                    <a:pt x="45901" y="0"/>
                    <a:pt x="624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664680" cy="537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480231" y="5963054"/>
            <a:ext cx="6320582" cy="1894696"/>
            <a:chOff x="0" y="0"/>
            <a:chExt cx="1664680" cy="4990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64680" cy="499015"/>
            </a:xfrm>
            <a:custGeom>
              <a:avLst/>
              <a:gdLst/>
              <a:ahLst/>
              <a:cxnLst/>
              <a:rect l="l" t="t" r="r" b="b"/>
              <a:pathLst>
                <a:path w="1664680" h="499015">
                  <a:moveTo>
                    <a:pt x="62469" y="0"/>
                  </a:moveTo>
                  <a:lnTo>
                    <a:pt x="1602212" y="0"/>
                  </a:lnTo>
                  <a:cubicBezTo>
                    <a:pt x="1618779" y="0"/>
                    <a:pt x="1634668" y="6581"/>
                    <a:pt x="1646384" y="18297"/>
                  </a:cubicBezTo>
                  <a:cubicBezTo>
                    <a:pt x="1658099" y="30012"/>
                    <a:pt x="1664680" y="45901"/>
                    <a:pt x="1664680" y="62469"/>
                  </a:cubicBezTo>
                  <a:lnTo>
                    <a:pt x="1664680" y="436546"/>
                  </a:lnTo>
                  <a:cubicBezTo>
                    <a:pt x="1664680" y="453114"/>
                    <a:pt x="1658099" y="469003"/>
                    <a:pt x="1646384" y="480718"/>
                  </a:cubicBezTo>
                  <a:cubicBezTo>
                    <a:pt x="1634668" y="492433"/>
                    <a:pt x="1618779" y="499015"/>
                    <a:pt x="1602212" y="499015"/>
                  </a:cubicBezTo>
                  <a:lnTo>
                    <a:pt x="62469" y="499015"/>
                  </a:lnTo>
                  <a:cubicBezTo>
                    <a:pt x="45901" y="499015"/>
                    <a:pt x="30012" y="492433"/>
                    <a:pt x="18297" y="480718"/>
                  </a:cubicBezTo>
                  <a:cubicBezTo>
                    <a:pt x="6581" y="469003"/>
                    <a:pt x="0" y="453114"/>
                    <a:pt x="0" y="436546"/>
                  </a:cubicBezTo>
                  <a:lnTo>
                    <a:pt x="0" y="62469"/>
                  </a:lnTo>
                  <a:cubicBezTo>
                    <a:pt x="0" y="45901"/>
                    <a:pt x="6581" y="30012"/>
                    <a:pt x="18297" y="18297"/>
                  </a:cubicBezTo>
                  <a:cubicBezTo>
                    <a:pt x="30012" y="6581"/>
                    <a:pt x="45901" y="0"/>
                    <a:pt x="624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64680" cy="537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09256" y="2007708"/>
            <a:ext cx="13385681" cy="7529446"/>
          </a:xfrm>
          <a:custGeom>
            <a:avLst/>
            <a:gdLst/>
            <a:ahLst/>
            <a:cxnLst/>
            <a:rect l="l" t="t" r="r" b="b"/>
            <a:pathLst>
              <a:path w="13385681" h="7529446">
                <a:moveTo>
                  <a:pt x="0" y="0"/>
                </a:moveTo>
                <a:lnTo>
                  <a:pt x="13385681" y="0"/>
                </a:lnTo>
                <a:lnTo>
                  <a:pt x="13385681" y="7529446"/>
                </a:lnTo>
                <a:lnTo>
                  <a:pt x="0" y="7529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103544" y="661104"/>
            <a:ext cx="10597105" cy="107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94"/>
              </a:lnSpc>
              <a:spcBef>
                <a:spcPct val="0"/>
              </a:spcBef>
            </a:pPr>
            <a:r>
              <a:rPr lang="en-US" sz="6281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Power BI Implementation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329429"/>
            <a:ext cx="15900779" cy="7477050"/>
            <a:chOff x="0" y="0"/>
            <a:chExt cx="4187860" cy="19692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87859" cy="1969264"/>
            </a:xfrm>
            <a:custGeom>
              <a:avLst/>
              <a:gdLst/>
              <a:ahLst/>
              <a:cxnLst/>
              <a:rect l="l" t="t" r="r" b="b"/>
              <a:pathLst>
                <a:path w="4187859" h="1969264">
                  <a:moveTo>
                    <a:pt x="24831" y="0"/>
                  </a:moveTo>
                  <a:lnTo>
                    <a:pt x="4163028" y="0"/>
                  </a:lnTo>
                  <a:cubicBezTo>
                    <a:pt x="4176742" y="0"/>
                    <a:pt x="4187859" y="11117"/>
                    <a:pt x="4187859" y="24831"/>
                  </a:cubicBezTo>
                  <a:lnTo>
                    <a:pt x="4187859" y="1944433"/>
                  </a:lnTo>
                  <a:cubicBezTo>
                    <a:pt x="4187859" y="1951019"/>
                    <a:pt x="4185243" y="1957335"/>
                    <a:pt x="4180587" y="1961991"/>
                  </a:cubicBezTo>
                  <a:cubicBezTo>
                    <a:pt x="4175930" y="1966648"/>
                    <a:pt x="4169614" y="1969264"/>
                    <a:pt x="4163028" y="1969264"/>
                  </a:cubicBezTo>
                  <a:lnTo>
                    <a:pt x="24831" y="1969264"/>
                  </a:lnTo>
                  <a:cubicBezTo>
                    <a:pt x="18246" y="1969264"/>
                    <a:pt x="11930" y="1966648"/>
                    <a:pt x="7273" y="1961991"/>
                  </a:cubicBezTo>
                  <a:cubicBezTo>
                    <a:pt x="2616" y="1957335"/>
                    <a:pt x="0" y="1951019"/>
                    <a:pt x="0" y="1944433"/>
                  </a:cubicBezTo>
                  <a:lnTo>
                    <a:pt x="0" y="24831"/>
                  </a:lnTo>
                  <a:cubicBezTo>
                    <a:pt x="0" y="18246"/>
                    <a:pt x="2616" y="11930"/>
                    <a:pt x="7273" y="7273"/>
                  </a:cubicBezTo>
                  <a:cubicBezTo>
                    <a:pt x="11930" y="2616"/>
                    <a:pt x="18246" y="0"/>
                    <a:pt x="248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87860" cy="2007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8330782" flipV="1">
            <a:off x="-1359168" y="8126781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5"/>
                </a:moveTo>
                <a:lnTo>
                  <a:pt x="4775736" y="2874125"/>
                </a:lnTo>
                <a:lnTo>
                  <a:pt x="4775736" y="0"/>
                </a:lnTo>
                <a:lnTo>
                  <a:pt x="0" y="0"/>
                </a:lnTo>
                <a:lnTo>
                  <a:pt x="0" y="2874125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184382" y="6910402"/>
            <a:ext cx="4755606" cy="2128700"/>
          </a:xfrm>
          <a:custGeom>
            <a:avLst/>
            <a:gdLst/>
            <a:ahLst/>
            <a:cxnLst/>
            <a:rect l="l" t="t" r="r" b="b"/>
            <a:pathLst>
              <a:path w="4755606" h="2128700">
                <a:moveTo>
                  <a:pt x="0" y="0"/>
                </a:moveTo>
                <a:lnTo>
                  <a:pt x="4755606" y="0"/>
                </a:lnTo>
                <a:lnTo>
                  <a:pt x="4755606" y="2128700"/>
                </a:lnTo>
                <a:lnTo>
                  <a:pt x="0" y="21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479278" y="6910402"/>
            <a:ext cx="3274923" cy="2128700"/>
          </a:xfrm>
          <a:custGeom>
            <a:avLst/>
            <a:gdLst/>
            <a:ahLst/>
            <a:cxnLst/>
            <a:rect l="l" t="t" r="r" b="b"/>
            <a:pathLst>
              <a:path w="3274923" h="2128700">
                <a:moveTo>
                  <a:pt x="0" y="0"/>
                </a:moveTo>
                <a:lnTo>
                  <a:pt x="3274923" y="0"/>
                </a:lnTo>
                <a:lnTo>
                  <a:pt x="3274923" y="2128700"/>
                </a:lnTo>
                <a:lnTo>
                  <a:pt x="0" y="21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877284" y="4056908"/>
            <a:ext cx="3343361" cy="2173185"/>
          </a:xfrm>
          <a:custGeom>
            <a:avLst/>
            <a:gdLst/>
            <a:ahLst/>
            <a:cxnLst/>
            <a:rect l="l" t="t" r="r" b="b"/>
            <a:pathLst>
              <a:path w="3343361" h="2173185">
                <a:moveTo>
                  <a:pt x="0" y="0"/>
                </a:moveTo>
                <a:lnTo>
                  <a:pt x="3343361" y="0"/>
                </a:lnTo>
                <a:lnTo>
                  <a:pt x="3343361" y="2173184"/>
                </a:lnTo>
                <a:lnTo>
                  <a:pt x="0" y="21731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585425" y="3993102"/>
            <a:ext cx="3501210" cy="2300795"/>
          </a:xfrm>
          <a:custGeom>
            <a:avLst/>
            <a:gdLst/>
            <a:ahLst/>
            <a:cxnLst/>
            <a:rect l="l" t="t" r="r" b="b"/>
            <a:pathLst>
              <a:path w="3501210" h="2300795">
                <a:moveTo>
                  <a:pt x="0" y="0"/>
                </a:moveTo>
                <a:lnTo>
                  <a:pt x="3501210" y="0"/>
                </a:lnTo>
                <a:lnTo>
                  <a:pt x="3501210" y="2300796"/>
                </a:lnTo>
                <a:lnTo>
                  <a:pt x="0" y="2300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451414" y="3993102"/>
            <a:ext cx="3586092" cy="2319445"/>
          </a:xfrm>
          <a:custGeom>
            <a:avLst/>
            <a:gdLst/>
            <a:ahLst/>
            <a:cxnLst/>
            <a:rect l="l" t="t" r="r" b="b"/>
            <a:pathLst>
              <a:path w="3586092" h="2319445">
                <a:moveTo>
                  <a:pt x="0" y="0"/>
                </a:moveTo>
                <a:lnTo>
                  <a:pt x="3586093" y="0"/>
                </a:lnTo>
                <a:lnTo>
                  <a:pt x="3586093" y="2319446"/>
                </a:lnTo>
                <a:lnTo>
                  <a:pt x="0" y="23194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935104" y="861983"/>
            <a:ext cx="6417792" cy="848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8"/>
              </a:lnSpc>
            </a:pPr>
            <a:r>
              <a:rPr lang="en-US" sz="6398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Analytics Types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7368" y="2570266"/>
            <a:ext cx="598382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B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DESCRIPTIVE ANALYTICS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3936" y="2280675"/>
            <a:ext cx="7953847" cy="7477050"/>
            <a:chOff x="0" y="0"/>
            <a:chExt cx="2094840" cy="19692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4841" cy="1969264"/>
            </a:xfrm>
            <a:custGeom>
              <a:avLst/>
              <a:gdLst/>
              <a:ahLst/>
              <a:cxnLst/>
              <a:rect l="l" t="t" r="r" b="b"/>
              <a:pathLst>
                <a:path w="2094841" h="1969264">
                  <a:moveTo>
                    <a:pt x="49641" y="0"/>
                  </a:moveTo>
                  <a:lnTo>
                    <a:pt x="2045199" y="0"/>
                  </a:lnTo>
                  <a:cubicBezTo>
                    <a:pt x="2058365" y="0"/>
                    <a:pt x="2070991" y="5230"/>
                    <a:pt x="2080301" y="14540"/>
                  </a:cubicBezTo>
                  <a:cubicBezTo>
                    <a:pt x="2089610" y="23849"/>
                    <a:pt x="2094841" y="36475"/>
                    <a:pt x="2094841" y="49641"/>
                  </a:cubicBezTo>
                  <a:lnTo>
                    <a:pt x="2094841" y="1919623"/>
                  </a:lnTo>
                  <a:cubicBezTo>
                    <a:pt x="2094841" y="1947039"/>
                    <a:pt x="2072616" y="1969264"/>
                    <a:pt x="2045199" y="1969264"/>
                  </a:cubicBezTo>
                  <a:lnTo>
                    <a:pt x="49641" y="1969264"/>
                  </a:lnTo>
                  <a:cubicBezTo>
                    <a:pt x="36475" y="1969264"/>
                    <a:pt x="23849" y="1964034"/>
                    <a:pt x="14540" y="1954725"/>
                  </a:cubicBezTo>
                  <a:cubicBezTo>
                    <a:pt x="5230" y="1945415"/>
                    <a:pt x="0" y="1932789"/>
                    <a:pt x="0" y="1919623"/>
                  </a:cubicBezTo>
                  <a:lnTo>
                    <a:pt x="0" y="49641"/>
                  </a:lnTo>
                  <a:cubicBezTo>
                    <a:pt x="0" y="36475"/>
                    <a:pt x="5230" y="23849"/>
                    <a:pt x="14540" y="14540"/>
                  </a:cubicBezTo>
                  <a:cubicBezTo>
                    <a:pt x="23849" y="5230"/>
                    <a:pt x="36475" y="0"/>
                    <a:pt x="496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94840" cy="2007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8330782" flipV="1">
            <a:off x="-1359168" y="8126781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5"/>
                </a:moveTo>
                <a:lnTo>
                  <a:pt x="4775736" y="2874125"/>
                </a:lnTo>
                <a:lnTo>
                  <a:pt x="4775736" y="0"/>
                </a:lnTo>
                <a:lnTo>
                  <a:pt x="0" y="0"/>
                </a:lnTo>
                <a:lnTo>
                  <a:pt x="0" y="2874125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597060" y="2280675"/>
            <a:ext cx="7906011" cy="7477050"/>
            <a:chOff x="0" y="0"/>
            <a:chExt cx="2082242" cy="19692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2242" cy="1969264"/>
            </a:xfrm>
            <a:custGeom>
              <a:avLst/>
              <a:gdLst/>
              <a:ahLst/>
              <a:cxnLst/>
              <a:rect l="l" t="t" r="r" b="b"/>
              <a:pathLst>
                <a:path w="2082242" h="1969264">
                  <a:moveTo>
                    <a:pt x="49941" y="0"/>
                  </a:moveTo>
                  <a:lnTo>
                    <a:pt x="2032300" y="0"/>
                  </a:lnTo>
                  <a:cubicBezTo>
                    <a:pt x="2059882" y="0"/>
                    <a:pt x="2082242" y="22360"/>
                    <a:pt x="2082242" y="49941"/>
                  </a:cubicBezTo>
                  <a:lnTo>
                    <a:pt x="2082242" y="1919323"/>
                  </a:lnTo>
                  <a:cubicBezTo>
                    <a:pt x="2082242" y="1946905"/>
                    <a:pt x="2059882" y="1969264"/>
                    <a:pt x="2032300" y="1969264"/>
                  </a:cubicBezTo>
                  <a:lnTo>
                    <a:pt x="49941" y="1969264"/>
                  </a:lnTo>
                  <a:cubicBezTo>
                    <a:pt x="22360" y="1969264"/>
                    <a:pt x="0" y="1946905"/>
                    <a:pt x="0" y="1919323"/>
                  </a:cubicBezTo>
                  <a:lnTo>
                    <a:pt x="0" y="49941"/>
                  </a:lnTo>
                  <a:cubicBezTo>
                    <a:pt x="0" y="22360"/>
                    <a:pt x="22360" y="0"/>
                    <a:pt x="499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82242" cy="2007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699446" y="3877671"/>
            <a:ext cx="5701238" cy="5059030"/>
          </a:xfrm>
          <a:custGeom>
            <a:avLst/>
            <a:gdLst/>
            <a:ahLst/>
            <a:cxnLst/>
            <a:rect l="l" t="t" r="r" b="b"/>
            <a:pathLst>
              <a:path w="5701238" h="5059030">
                <a:moveTo>
                  <a:pt x="0" y="0"/>
                </a:moveTo>
                <a:lnTo>
                  <a:pt x="5701238" y="0"/>
                </a:lnTo>
                <a:lnTo>
                  <a:pt x="5701238" y="5059030"/>
                </a:lnTo>
                <a:lnTo>
                  <a:pt x="0" y="5059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043108" y="4079778"/>
            <a:ext cx="2872339" cy="2327408"/>
          </a:xfrm>
          <a:custGeom>
            <a:avLst/>
            <a:gdLst/>
            <a:ahLst/>
            <a:cxnLst/>
            <a:rect l="l" t="t" r="r" b="b"/>
            <a:pathLst>
              <a:path w="2872339" h="2327408">
                <a:moveTo>
                  <a:pt x="0" y="0"/>
                </a:moveTo>
                <a:lnTo>
                  <a:pt x="2872339" y="0"/>
                </a:lnTo>
                <a:lnTo>
                  <a:pt x="2872339" y="2327408"/>
                </a:lnTo>
                <a:lnTo>
                  <a:pt x="0" y="2327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24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04296" y="6910402"/>
            <a:ext cx="2577499" cy="2168945"/>
          </a:xfrm>
          <a:custGeom>
            <a:avLst/>
            <a:gdLst/>
            <a:ahLst/>
            <a:cxnLst/>
            <a:rect l="l" t="t" r="r" b="b"/>
            <a:pathLst>
              <a:path w="2577499" h="2168945">
                <a:moveTo>
                  <a:pt x="0" y="0"/>
                </a:moveTo>
                <a:lnTo>
                  <a:pt x="2577500" y="0"/>
                </a:lnTo>
                <a:lnTo>
                  <a:pt x="2577500" y="2168945"/>
                </a:lnTo>
                <a:lnTo>
                  <a:pt x="0" y="216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710860" y="6885565"/>
            <a:ext cx="2872339" cy="2193782"/>
          </a:xfrm>
          <a:custGeom>
            <a:avLst/>
            <a:gdLst/>
            <a:ahLst/>
            <a:cxnLst/>
            <a:rect l="l" t="t" r="r" b="b"/>
            <a:pathLst>
              <a:path w="2872339" h="2193782">
                <a:moveTo>
                  <a:pt x="0" y="0"/>
                </a:moveTo>
                <a:lnTo>
                  <a:pt x="2872339" y="0"/>
                </a:lnTo>
                <a:lnTo>
                  <a:pt x="2872339" y="2193782"/>
                </a:lnTo>
                <a:lnTo>
                  <a:pt x="0" y="21937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144393" y="520190"/>
            <a:ext cx="6417792" cy="848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8"/>
              </a:lnSpc>
            </a:pPr>
            <a:r>
              <a:rPr lang="en-US" sz="6398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Analytics Types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7368" y="2570266"/>
            <a:ext cx="598382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B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DESCRIPTIVE ANALYTICS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58155" y="2570266"/>
            <a:ext cx="598382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B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DIAGNOSTIC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3936" y="2280675"/>
            <a:ext cx="7953847" cy="7477050"/>
            <a:chOff x="0" y="0"/>
            <a:chExt cx="2094840" cy="19692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4841" cy="1969264"/>
            </a:xfrm>
            <a:custGeom>
              <a:avLst/>
              <a:gdLst/>
              <a:ahLst/>
              <a:cxnLst/>
              <a:rect l="l" t="t" r="r" b="b"/>
              <a:pathLst>
                <a:path w="2094841" h="1969264">
                  <a:moveTo>
                    <a:pt x="49641" y="0"/>
                  </a:moveTo>
                  <a:lnTo>
                    <a:pt x="2045199" y="0"/>
                  </a:lnTo>
                  <a:cubicBezTo>
                    <a:pt x="2058365" y="0"/>
                    <a:pt x="2070991" y="5230"/>
                    <a:pt x="2080301" y="14540"/>
                  </a:cubicBezTo>
                  <a:cubicBezTo>
                    <a:pt x="2089610" y="23849"/>
                    <a:pt x="2094841" y="36475"/>
                    <a:pt x="2094841" y="49641"/>
                  </a:cubicBezTo>
                  <a:lnTo>
                    <a:pt x="2094841" y="1919623"/>
                  </a:lnTo>
                  <a:cubicBezTo>
                    <a:pt x="2094841" y="1947039"/>
                    <a:pt x="2072616" y="1969264"/>
                    <a:pt x="2045199" y="1969264"/>
                  </a:cubicBezTo>
                  <a:lnTo>
                    <a:pt x="49641" y="1969264"/>
                  </a:lnTo>
                  <a:cubicBezTo>
                    <a:pt x="36475" y="1969264"/>
                    <a:pt x="23849" y="1964034"/>
                    <a:pt x="14540" y="1954725"/>
                  </a:cubicBezTo>
                  <a:cubicBezTo>
                    <a:pt x="5230" y="1945415"/>
                    <a:pt x="0" y="1932789"/>
                    <a:pt x="0" y="1919623"/>
                  </a:cubicBezTo>
                  <a:lnTo>
                    <a:pt x="0" y="49641"/>
                  </a:lnTo>
                  <a:cubicBezTo>
                    <a:pt x="0" y="36475"/>
                    <a:pt x="5230" y="23849"/>
                    <a:pt x="14540" y="14540"/>
                  </a:cubicBezTo>
                  <a:cubicBezTo>
                    <a:pt x="23849" y="5230"/>
                    <a:pt x="36475" y="0"/>
                    <a:pt x="496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94840" cy="2007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8330782" flipV="1">
            <a:off x="-1359168" y="8126781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5"/>
                </a:moveTo>
                <a:lnTo>
                  <a:pt x="4775736" y="2874125"/>
                </a:lnTo>
                <a:lnTo>
                  <a:pt x="4775736" y="0"/>
                </a:lnTo>
                <a:lnTo>
                  <a:pt x="0" y="0"/>
                </a:lnTo>
                <a:lnTo>
                  <a:pt x="0" y="2874125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597060" y="2280675"/>
            <a:ext cx="7906011" cy="7477050"/>
            <a:chOff x="0" y="0"/>
            <a:chExt cx="2082242" cy="19692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2242" cy="1969264"/>
            </a:xfrm>
            <a:custGeom>
              <a:avLst/>
              <a:gdLst/>
              <a:ahLst/>
              <a:cxnLst/>
              <a:rect l="l" t="t" r="r" b="b"/>
              <a:pathLst>
                <a:path w="2082242" h="1969264">
                  <a:moveTo>
                    <a:pt x="49941" y="0"/>
                  </a:moveTo>
                  <a:lnTo>
                    <a:pt x="2032300" y="0"/>
                  </a:lnTo>
                  <a:cubicBezTo>
                    <a:pt x="2059882" y="0"/>
                    <a:pt x="2082242" y="22360"/>
                    <a:pt x="2082242" y="49941"/>
                  </a:cubicBezTo>
                  <a:lnTo>
                    <a:pt x="2082242" y="1919323"/>
                  </a:lnTo>
                  <a:cubicBezTo>
                    <a:pt x="2082242" y="1946905"/>
                    <a:pt x="2059882" y="1969264"/>
                    <a:pt x="2032300" y="1969264"/>
                  </a:cubicBezTo>
                  <a:lnTo>
                    <a:pt x="49941" y="1969264"/>
                  </a:lnTo>
                  <a:cubicBezTo>
                    <a:pt x="22360" y="1969264"/>
                    <a:pt x="0" y="1946905"/>
                    <a:pt x="0" y="1919323"/>
                  </a:cubicBezTo>
                  <a:lnTo>
                    <a:pt x="0" y="49941"/>
                  </a:lnTo>
                  <a:cubicBezTo>
                    <a:pt x="0" y="22360"/>
                    <a:pt x="22360" y="0"/>
                    <a:pt x="499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82242" cy="2007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16761" y="4829560"/>
            <a:ext cx="3494099" cy="2379280"/>
          </a:xfrm>
          <a:custGeom>
            <a:avLst/>
            <a:gdLst/>
            <a:ahLst/>
            <a:cxnLst/>
            <a:rect l="l" t="t" r="r" b="b"/>
            <a:pathLst>
              <a:path w="3494099" h="2379280">
                <a:moveTo>
                  <a:pt x="0" y="0"/>
                </a:moveTo>
                <a:lnTo>
                  <a:pt x="3494099" y="0"/>
                </a:lnTo>
                <a:lnTo>
                  <a:pt x="3494099" y="2379279"/>
                </a:lnTo>
                <a:lnTo>
                  <a:pt x="0" y="2379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061868" y="4829560"/>
            <a:ext cx="3245667" cy="2333841"/>
          </a:xfrm>
          <a:custGeom>
            <a:avLst/>
            <a:gdLst/>
            <a:ahLst/>
            <a:cxnLst/>
            <a:rect l="l" t="t" r="r" b="b"/>
            <a:pathLst>
              <a:path w="3245667" h="2333841">
                <a:moveTo>
                  <a:pt x="0" y="0"/>
                </a:moveTo>
                <a:lnTo>
                  <a:pt x="3245666" y="0"/>
                </a:lnTo>
                <a:lnTo>
                  <a:pt x="3245666" y="2333840"/>
                </a:lnTo>
                <a:lnTo>
                  <a:pt x="0" y="233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277641" y="4433992"/>
            <a:ext cx="3528384" cy="2080842"/>
          </a:xfrm>
          <a:custGeom>
            <a:avLst/>
            <a:gdLst/>
            <a:ahLst/>
            <a:cxnLst/>
            <a:rect l="l" t="t" r="r" b="b"/>
            <a:pathLst>
              <a:path w="3528384" h="2080842">
                <a:moveTo>
                  <a:pt x="0" y="0"/>
                </a:moveTo>
                <a:lnTo>
                  <a:pt x="3528384" y="0"/>
                </a:lnTo>
                <a:lnTo>
                  <a:pt x="3528384" y="2080842"/>
                </a:lnTo>
                <a:lnTo>
                  <a:pt x="0" y="2080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77641" y="7163400"/>
            <a:ext cx="4687092" cy="2004022"/>
          </a:xfrm>
          <a:custGeom>
            <a:avLst/>
            <a:gdLst/>
            <a:ahLst/>
            <a:cxnLst/>
            <a:rect l="l" t="t" r="r" b="b"/>
            <a:pathLst>
              <a:path w="4687092" h="2004022">
                <a:moveTo>
                  <a:pt x="0" y="0"/>
                </a:moveTo>
                <a:lnTo>
                  <a:pt x="4687091" y="0"/>
                </a:lnTo>
                <a:lnTo>
                  <a:pt x="4687091" y="2004022"/>
                </a:lnTo>
                <a:lnTo>
                  <a:pt x="0" y="20040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548483" y="4433992"/>
            <a:ext cx="2348238" cy="2160379"/>
          </a:xfrm>
          <a:custGeom>
            <a:avLst/>
            <a:gdLst/>
            <a:ahLst/>
            <a:cxnLst/>
            <a:rect l="l" t="t" r="r" b="b"/>
            <a:pathLst>
              <a:path w="2348238" h="2160379">
                <a:moveTo>
                  <a:pt x="0" y="0"/>
                </a:moveTo>
                <a:lnTo>
                  <a:pt x="2348238" y="0"/>
                </a:lnTo>
                <a:lnTo>
                  <a:pt x="2348238" y="2160379"/>
                </a:lnTo>
                <a:lnTo>
                  <a:pt x="0" y="21603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785541" y="666452"/>
            <a:ext cx="6417792" cy="848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8"/>
              </a:lnSpc>
            </a:pPr>
            <a:r>
              <a:rPr lang="en-US" sz="6398" b="1">
                <a:solidFill>
                  <a:srgbClr val="FFFBE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Analytics Types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87368" y="2570266"/>
            <a:ext cx="598382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B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PREDICTIVE ANALYTICS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58155" y="2570266"/>
            <a:ext cx="6495739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B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PRESCRIPTIVE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845447" y="596800"/>
            <a:ext cx="10597105" cy="112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4"/>
              </a:lnSpc>
              <a:spcBef>
                <a:spcPct val="0"/>
              </a:spcBef>
            </a:pPr>
            <a:r>
              <a:rPr lang="en-US" sz="6581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Python Implementation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2096962" y="2492257"/>
            <a:ext cx="14094075" cy="6377569"/>
          </a:xfrm>
          <a:custGeom>
            <a:avLst/>
            <a:gdLst/>
            <a:ahLst/>
            <a:cxnLst/>
            <a:rect l="l" t="t" r="r" b="b"/>
            <a:pathLst>
              <a:path w="14094075" h="6377569">
                <a:moveTo>
                  <a:pt x="0" y="0"/>
                </a:moveTo>
                <a:lnTo>
                  <a:pt x="14094076" y="0"/>
                </a:lnTo>
                <a:lnTo>
                  <a:pt x="14094076" y="6377569"/>
                </a:lnTo>
                <a:lnTo>
                  <a:pt x="0" y="63775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762384" y="1656458"/>
            <a:ext cx="8744183" cy="2874650"/>
          </a:xfrm>
          <a:custGeom>
            <a:avLst/>
            <a:gdLst/>
            <a:ahLst/>
            <a:cxnLst/>
            <a:rect l="l" t="t" r="r" b="b"/>
            <a:pathLst>
              <a:path w="8744183" h="2874650">
                <a:moveTo>
                  <a:pt x="0" y="0"/>
                </a:moveTo>
                <a:lnTo>
                  <a:pt x="8744182" y="0"/>
                </a:lnTo>
                <a:lnTo>
                  <a:pt x="8744182" y="2874650"/>
                </a:lnTo>
                <a:lnTo>
                  <a:pt x="0" y="287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518833" y="4829175"/>
            <a:ext cx="6179774" cy="4982443"/>
          </a:xfrm>
          <a:custGeom>
            <a:avLst/>
            <a:gdLst/>
            <a:ahLst/>
            <a:cxnLst/>
            <a:rect l="l" t="t" r="r" b="b"/>
            <a:pathLst>
              <a:path w="6179774" h="4982443">
                <a:moveTo>
                  <a:pt x="0" y="0"/>
                </a:moveTo>
                <a:lnTo>
                  <a:pt x="6179775" y="0"/>
                </a:lnTo>
                <a:lnTo>
                  <a:pt x="6179775" y="4982443"/>
                </a:lnTo>
                <a:lnTo>
                  <a:pt x="0" y="4982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529222" y="4829175"/>
            <a:ext cx="5993916" cy="4982443"/>
          </a:xfrm>
          <a:custGeom>
            <a:avLst/>
            <a:gdLst/>
            <a:ahLst/>
            <a:cxnLst/>
            <a:rect l="l" t="t" r="r" b="b"/>
            <a:pathLst>
              <a:path w="5993916" h="4982443">
                <a:moveTo>
                  <a:pt x="0" y="0"/>
                </a:moveTo>
                <a:lnTo>
                  <a:pt x="5993916" y="0"/>
                </a:lnTo>
                <a:lnTo>
                  <a:pt x="5993916" y="4982443"/>
                </a:lnTo>
                <a:lnTo>
                  <a:pt x="0" y="49824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10168" y="190678"/>
            <a:ext cx="10597105" cy="8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4"/>
              </a:lnSpc>
              <a:spcBef>
                <a:spcPct val="0"/>
              </a:spcBef>
            </a:pPr>
            <a:r>
              <a:rPr lang="en-US" sz="4882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DESCRIPTIVE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1037565" y="1324670"/>
            <a:ext cx="598382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1840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111672" y="2186698"/>
            <a:ext cx="7744297" cy="3513975"/>
          </a:xfrm>
          <a:custGeom>
            <a:avLst/>
            <a:gdLst/>
            <a:ahLst/>
            <a:cxnLst/>
            <a:rect l="l" t="t" r="r" b="b"/>
            <a:pathLst>
              <a:path w="7744297" h="3513975">
                <a:moveTo>
                  <a:pt x="0" y="0"/>
                </a:moveTo>
                <a:lnTo>
                  <a:pt x="7744296" y="0"/>
                </a:lnTo>
                <a:lnTo>
                  <a:pt x="7744296" y="3513975"/>
                </a:lnTo>
                <a:lnTo>
                  <a:pt x="0" y="3513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184264" y="6517745"/>
            <a:ext cx="11301259" cy="2740555"/>
          </a:xfrm>
          <a:custGeom>
            <a:avLst/>
            <a:gdLst/>
            <a:ahLst/>
            <a:cxnLst/>
            <a:rect l="l" t="t" r="r" b="b"/>
            <a:pathLst>
              <a:path w="11301259" h="2740555">
                <a:moveTo>
                  <a:pt x="0" y="0"/>
                </a:moveTo>
                <a:lnTo>
                  <a:pt x="11301259" y="0"/>
                </a:lnTo>
                <a:lnTo>
                  <a:pt x="11301259" y="2740555"/>
                </a:lnTo>
                <a:lnTo>
                  <a:pt x="0" y="2740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4203" y="190678"/>
            <a:ext cx="7257443" cy="8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4"/>
              </a:lnSpc>
              <a:spcBef>
                <a:spcPct val="0"/>
              </a:spcBef>
            </a:pPr>
            <a:r>
              <a:rPr lang="en-US" sz="4882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DESCRIPTIVE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393230"/>
            <a:ext cx="598382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1840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Sales Overview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18826" y="2376174"/>
            <a:ext cx="9300202" cy="3801458"/>
          </a:xfrm>
          <a:custGeom>
            <a:avLst/>
            <a:gdLst/>
            <a:ahLst/>
            <a:cxnLst/>
            <a:rect l="l" t="t" r="r" b="b"/>
            <a:pathLst>
              <a:path w="9300202" h="3801458">
                <a:moveTo>
                  <a:pt x="0" y="0"/>
                </a:moveTo>
                <a:lnTo>
                  <a:pt x="9300202" y="0"/>
                </a:lnTo>
                <a:lnTo>
                  <a:pt x="9300202" y="3801458"/>
                </a:lnTo>
                <a:lnTo>
                  <a:pt x="0" y="3801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370946" y="7284726"/>
            <a:ext cx="11301259" cy="1568050"/>
          </a:xfrm>
          <a:custGeom>
            <a:avLst/>
            <a:gdLst/>
            <a:ahLst/>
            <a:cxnLst/>
            <a:rect l="l" t="t" r="r" b="b"/>
            <a:pathLst>
              <a:path w="11301259" h="1568050">
                <a:moveTo>
                  <a:pt x="0" y="0"/>
                </a:moveTo>
                <a:lnTo>
                  <a:pt x="11301259" y="0"/>
                </a:lnTo>
                <a:lnTo>
                  <a:pt x="11301259" y="1568050"/>
                </a:lnTo>
                <a:lnTo>
                  <a:pt x="0" y="1568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4203" y="190678"/>
            <a:ext cx="7257443" cy="8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4"/>
              </a:lnSpc>
              <a:spcBef>
                <a:spcPct val="0"/>
              </a:spcBef>
            </a:pPr>
            <a:r>
              <a:rPr lang="en-US" sz="4882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DESCRIPTIVE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5850" y="1393230"/>
            <a:ext cx="598382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1840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Monthly Sales Trend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77547" y="2418756"/>
            <a:ext cx="6995683" cy="2981910"/>
          </a:xfrm>
          <a:custGeom>
            <a:avLst/>
            <a:gdLst/>
            <a:ahLst/>
            <a:cxnLst/>
            <a:rect l="l" t="t" r="r" b="b"/>
            <a:pathLst>
              <a:path w="6995683" h="2981910">
                <a:moveTo>
                  <a:pt x="0" y="0"/>
                </a:moveTo>
                <a:lnTo>
                  <a:pt x="6995683" y="0"/>
                </a:lnTo>
                <a:lnTo>
                  <a:pt x="6995683" y="2981910"/>
                </a:lnTo>
                <a:lnTo>
                  <a:pt x="0" y="29819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144000" y="2424792"/>
            <a:ext cx="7214239" cy="2975874"/>
          </a:xfrm>
          <a:custGeom>
            <a:avLst/>
            <a:gdLst/>
            <a:ahLst/>
            <a:cxnLst/>
            <a:rect l="l" t="t" r="r" b="b"/>
            <a:pathLst>
              <a:path w="7214239" h="2975874">
                <a:moveTo>
                  <a:pt x="0" y="0"/>
                </a:moveTo>
                <a:lnTo>
                  <a:pt x="7214239" y="0"/>
                </a:lnTo>
                <a:lnTo>
                  <a:pt x="7214239" y="2975874"/>
                </a:lnTo>
                <a:lnTo>
                  <a:pt x="0" y="29758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493371" y="6178707"/>
            <a:ext cx="11301259" cy="3079593"/>
          </a:xfrm>
          <a:custGeom>
            <a:avLst/>
            <a:gdLst/>
            <a:ahLst/>
            <a:cxnLst/>
            <a:rect l="l" t="t" r="r" b="b"/>
            <a:pathLst>
              <a:path w="11301259" h="3079593">
                <a:moveTo>
                  <a:pt x="0" y="0"/>
                </a:moveTo>
                <a:lnTo>
                  <a:pt x="11301258" y="0"/>
                </a:lnTo>
                <a:lnTo>
                  <a:pt x="11301258" y="3079593"/>
                </a:lnTo>
                <a:lnTo>
                  <a:pt x="0" y="30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74203" y="190678"/>
            <a:ext cx="7257443" cy="8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4"/>
              </a:lnSpc>
              <a:spcBef>
                <a:spcPct val="0"/>
              </a:spcBef>
            </a:pPr>
            <a:r>
              <a:rPr lang="en-US" sz="4882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DESCRIPTIVE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4203" y="1393230"/>
            <a:ext cx="11883076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1840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Sales vs Quantity &amp; Sales vs Unitprice Scatterplot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66800" y="2418756"/>
            <a:ext cx="7579478" cy="3391816"/>
          </a:xfrm>
          <a:custGeom>
            <a:avLst/>
            <a:gdLst/>
            <a:ahLst/>
            <a:cxnLst/>
            <a:rect l="l" t="t" r="r" b="b"/>
            <a:pathLst>
              <a:path w="7579478" h="3391816">
                <a:moveTo>
                  <a:pt x="0" y="0"/>
                </a:moveTo>
                <a:lnTo>
                  <a:pt x="7579478" y="0"/>
                </a:lnTo>
                <a:lnTo>
                  <a:pt x="7579478" y="3391816"/>
                </a:lnTo>
                <a:lnTo>
                  <a:pt x="0" y="3391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31277" y="2347627"/>
            <a:ext cx="7717422" cy="3462946"/>
          </a:xfrm>
          <a:custGeom>
            <a:avLst/>
            <a:gdLst/>
            <a:ahLst/>
            <a:cxnLst/>
            <a:rect l="l" t="t" r="r" b="b"/>
            <a:pathLst>
              <a:path w="7717422" h="3462946">
                <a:moveTo>
                  <a:pt x="0" y="0"/>
                </a:moveTo>
                <a:lnTo>
                  <a:pt x="7717422" y="0"/>
                </a:lnTo>
                <a:lnTo>
                  <a:pt x="7717422" y="3462945"/>
                </a:lnTo>
                <a:lnTo>
                  <a:pt x="0" y="34629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856539" y="6597954"/>
            <a:ext cx="7961774" cy="3129033"/>
          </a:xfrm>
          <a:custGeom>
            <a:avLst/>
            <a:gdLst/>
            <a:ahLst/>
            <a:cxnLst/>
            <a:rect l="l" t="t" r="r" b="b"/>
            <a:pathLst>
              <a:path w="7961774" h="3129033">
                <a:moveTo>
                  <a:pt x="0" y="0"/>
                </a:moveTo>
                <a:lnTo>
                  <a:pt x="7961774" y="0"/>
                </a:lnTo>
                <a:lnTo>
                  <a:pt x="7961774" y="3129032"/>
                </a:lnTo>
                <a:lnTo>
                  <a:pt x="0" y="31290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74203" y="190678"/>
            <a:ext cx="7257443" cy="8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4"/>
              </a:lnSpc>
              <a:spcBef>
                <a:spcPct val="0"/>
              </a:spcBef>
            </a:pPr>
            <a:r>
              <a:rPr lang="en-US" sz="4882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DESCRIPTIVE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4203" y="1393230"/>
            <a:ext cx="1271189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1840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Sales Treemap and Receptionist sunburt chart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3158891"/>
            <a:ext cx="7680981" cy="3360429"/>
          </a:xfrm>
          <a:custGeom>
            <a:avLst/>
            <a:gdLst/>
            <a:ahLst/>
            <a:cxnLst/>
            <a:rect l="l" t="t" r="r" b="b"/>
            <a:pathLst>
              <a:path w="7680981" h="3360429">
                <a:moveTo>
                  <a:pt x="0" y="0"/>
                </a:moveTo>
                <a:lnTo>
                  <a:pt x="7680981" y="0"/>
                </a:lnTo>
                <a:lnTo>
                  <a:pt x="7680981" y="3360430"/>
                </a:lnTo>
                <a:lnTo>
                  <a:pt x="0" y="33604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351071" y="3158891"/>
            <a:ext cx="7615704" cy="3360429"/>
          </a:xfrm>
          <a:custGeom>
            <a:avLst/>
            <a:gdLst/>
            <a:ahLst/>
            <a:cxnLst/>
            <a:rect l="l" t="t" r="r" b="b"/>
            <a:pathLst>
              <a:path w="7615704" h="3360429">
                <a:moveTo>
                  <a:pt x="0" y="0"/>
                </a:moveTo>
                <a:lnTo>
                  <a:pt x="7615704" y="0"/>
                </a:lnTo>
                <a:lnTo>
                  <a:pt x="7615704" y="3360430"/>
                </a:lnTo>
                <a:lnTo>
                  <a:pt x="0" y="33604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493371" y="7126308"/>
            <a:ext cx="11301259" cy="2302632"/>
          </a:xfrm>
          <a:custGeom>
            <a:avLst/>
            <a:gdLst/>
            <a:ahLst/>
            <a:cxnLst/>
            <a:rect l="l" t="t" r="r" b="b"/>
            <a:pathLst>
              <a:path w="11301259" h="2302632">
                <a:moveTo>
                  <a:pt x="0" y="0"/>
                </a:moveTo>
                <a:lnTo>
                  <a:pt x="11301258" y="0"/>
                </a:lnTo>
                <a:lnTo>
                  <a:pt x="11301258" y="2302632"/>
                </a:lnTo>
                <a:lnTo>
                  <a:pt x="0" y="23026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74203" y="190678"/>
            <a:ext cx="7257443" cy="8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4"/>
              </a:lnSpc>
              <a:spcBef>
                <a:spcPct val="0"/>
              </a:spcBef>
            </a:pPr>
            <a:r>
              <a:rPr lang="en-US" sz="4882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DESCRIPTIVE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1745" y="1393230"/>
            <a:ext cx="1271189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1840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brands by sold and profit distribution by category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99689" y="1725018"/>
            <a:ext cx="10866596" cy="4400971"/>
          </a:xfrm>
          <a:custGeom>
            <a:avLst/>
            <a:gdLst/>
            <a:ahLst/>
            <a:cxnLst/>
            <a:rect l="l" t="t" r="r" b="b"/>
            <a:pathLst>
              <a:path w="10866596" h="4400971">
                <a:moveTo>
                  <a:pt x="0" y="0"/>
                </a:moveTo>
                <a:lnTo>
                  <a:pt x="10866596" y="0"/>
                </a:lnTo>
                <a:lnTo>
                  <a:pt x="10866596" y="4400972"/>
                </a:lnTo>
                <a:lnTo>
                  <a:pt x="0" y="4400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144000" y="3926078"/>
            <a:ext cx="8615302" cy="5847636"/>
          </a:xfrm>
          <a:custGeom>
            <a:avLst/>
            <a:gdLst/>
            <a:ahLst/>
            <a:cxnLst/>
            <a:rect l="l" t="t" r="r" b="b"/>
            <a:pathLst>
              <a:path w="8615302" h="5847636">
                <a:moveTo>
                  <a:pt x="0" y="0"/>
                </a:moveTo>
                <a:lnTo>
                  <a:pt x="8615302" y="0"/>
                </a:lnTo>
                <a:lnTo>
                  <a:pt x="8615302" y="5847637"/>
                </a:lnTo>
                <a:lnTo>
                  <a:pt x="0" y="58476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4203" y="190678"/>
            <a:ext cx="7257443" cy="8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4"/>
              </a:lnSpc>
              <a:spcBef>
                <a:spcPct val="0"/>
              </a:spcBef>
            </a:pPr>
            <a:r>
              <a:rPr lang="en-US" sz="4882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PREDICTIVE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74963" y="2236937"/>
            <a:ext cx="9160642" cy="3755863"/>
          </a:xfrm>
          <a:custGeom>
            <a:avLst/>
            <a:gdLst/>
            <a:ahLst/>
            <a:cxnLst/>
            <a:rect l="l" t="t" r="r" b="b"/>
            <a:pathLst>
              <a:path w="9160642" h="3755863">
                <a:moveTo>
                  <a:pt x="0" y="0"/>
                </a:moveTo>
                <a:lnTo>
                  <a:pt x="9160642" y="0"/>
                </a:lnTo>
                <a:lnTo>
                  <a:pt x="9160642" y="3755863"/>
                </a:lnTo>
                <a:lnTo>
                  <a:pt x="0" y="37558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153075" y="6421425"/>
            <a:ext cx="9735929" cy="3139837"/>
          </a:xfrm>
          <a:custGeom>
            <a:avLst/>
            <a:gdLst/>
            <a:ahLst/>
            <a:cxnLst/>
            <a:rect l="l" t="t" r="r" b="b"/>
            <a:pathLst>
              <a:path w="9735929" h="3139837">
                <a:moveTo>
                  <a:pt x="0" y="0"/>
                </a:moveTo>
                <a:lnTo>
                  <a:pt x="9735929" y="0"/>
                </a:lnTo>
                <a:lnTo>
                  <a:pt x="9735929" y="3139838"/>
                </a:lnTo>
                <a:lnTo>
                  <a:pt x="0" y="31398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4203" y="190678"/>
            <a:ext cx="7257443" cy="8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4"/>
              </a:lnSpc>
              <a:spcBef>
                <a:spcPct val="0"/>
              </a:spcBef>
            </a:pPr>
            <a:r>
              <a:rPr lang="en-US" sz="4882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PREDICTIVE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242686" y="1393230"/>
            <a:ext cx="1271189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1840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Predicted Sales for Next 3 Months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241018"/>
            <a:ext cx="7975841" cy="3589128"/>
          </a:xfrm>
          <a:custGeom>
            <a:avLst/>
            <a:gdLst/>
            <a:ahLst/>
            <a:cxnLst/>
            <a:rect l="l" t="t" r="r" b="b"/>
            <a:pathLst>
              <a:path w="7975841" h="3589128">
                <a:moveTo>
                  <a:pt x="0" y="0"/>
                </a:moveTo>
                <a:lnTo>
                  <a:pt x="7975841" y="0"/>
                </a:lnTo>
                <a:lnTo>
                  <a:pt x="7975841" y="3589129"/>
                </a:lnTo>
                <a:lnTo>
                  <a:pt x="0" y="358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639146" y="6258772"/>
            <a:ext cx="11301259" cy="3545770"/>
          </a:xfrm>
          <a:custGeom>
            <a:avLst/>
            <a:gdLst/>
            <a:ahLst/>
            <a:cxnLst/>
            <a:rect l="l" t="t" r="r" b="b"/>
            <a:pathLst>
              <a:path w="11301259" h="3545770">
                <a:moveTo>
                  <a:pt x="0" y="0"/>
                </a:moveTo>
                <a:lnTo>
                  <a:pt x="11301259" y="0"/>
                </a:lnTo>
                <a:lnTo>
                  <a:pt x="11301259" y="3545770"/>
                </a:lnTo>
                <a:lnTo>
                  <a:pt x="0" y="35457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4203" y="190678"/>
            <a:ext cx="7257443" cy="8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4"/>
              </a:lnSpc>
              <a:spcBef>
                <a:spcPct val="0"/>
              </a:spcBef>
            </a:pPr>
            <a:r>
              <a:rPr lang="en-US" sz="4882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PREDICTIVE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589" y="1393230"/>
            <a:ext cx="1386980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1840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Forecasted Demand by Category &amp; Revenue by Category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405957"/>
            <a:ext cx="9709414" cy="3908039"/>
          </a:xfrm>
          <a:custGeom>
            <a:avLst/>
            <a:gdLst/>
            <a:ahLst/>
            <a:cxnLst/>
            <a:rect l="l" t="t" r="r" b="b"/>
            <a:pathLst>
              <a:path w="9709414" h="3908039">
                <a:moveTo>
                  <a:pt x="0" y="0"/>
                </a:moveTo>
                <a:lnTo>
                  <a:pt x="9709414" y="0"/>
                </a:lnTo>
                <a:lnTo>
                  <a:pt x="9709414" y="3908039"/>
                </a:lnTo>
                <a:lnTo>
                  <a:pt x="0" y="39080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736063" y="6510263"/>
            <a:ext cx="11301259" cy="3263239"/>
          </a:xfrm>
          <a:custGeom>
            <a:avLst/>
            <a:gdLst/>
            <a:ahLst/>
            <a:cxnLst/>
            <a:rect l="l" t="t" r="r" b="b"/>
            <a:pathLst>
              <a:path w="11301259" h="3263239">
                <a:moveTo>
                  <a:pt x="0" y="0"/>
                </a:moveTo>
                <a:lnTo>
                  <a:pt x="11301259" y="0"/>
                </a:lnTo>
                <a:lnTo>
                  <a:pt x="11301259" y="3263239"/>
                </a:lnTo>
                <a:lnTo>
                  <a:pt x="0" y="32632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4203" y="190678"/>
            <a:ext cx="7257443" cy="8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4"/>
              </a:lnSpc>
              <a:spcBef>
                <a:spcPct val="0"/>
              </a:spcBef>
            </a:pPr>
            <a:r>
              <a:rPr lang="en-US" sz="4882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PREDICTIVE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589" y="1393230"/>
            <a:ext cx="7336739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1840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Overstock Risk by Category</a:t>
            </a:r>
          </a:p>
          <a:p>
            <a:pPr algn="ctr">
              <a:lnSpc>
                <a:spcPts val="4899"/>
              </a:lnSpc>
            </a:pPr>
            <a:endParaRPr lang="en-US" sz="3499" b="1">
              <a:solidFill>
                <a:srgbClr val="F1840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5532" flipV="1">
            <a:off x="14267018" y="287956"/>
            <a:ext cx="4775736" cy="2874125"/>
          </a:xfrm>
          <a:custGeom>
            <a:avLst/>
            <a:gdLst/>
            <a:ahLst/>
            <a:cxnLst/>
            <a:rect l="l" t="t" r="r" b="b"/>
            <a:pathLst>
              <a:path w="4775736" h="2874125">
                <a:moveTo>
                  <a:pt x="0" y="2874124"/>
                </a:moveTo>
                <a:lnTo>
                  <a:pt x="4775736" y="2874124"/>
                </a:lnTo>
                <a:lnTo>
                  <a:pt x="4775736" y="0"/>
                </a:lnTo>
                <a:lnTo>
                  <a:pt x="0" y="0"/>
                </a:lnTo>
                <a:lnTo>
                  <a:pt x="0" y="2874124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566" y="3922400"/>
            <a:ext cx="8539853" cy="6047555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9685312" y="4415817"/>
            <a:ext cx="8380361" cy="4842483"/>
          </a:xfrm>
          <a:custGeom>
            <a:avLst/>
            <a:gdLst/>
            <a:ahLst/>
            <a:cxnLst/>
            <a:rect l="l" t="t" r="r" b="b"/>
            <a:pathLst>
              <a:path w="8380361" h="4842483">
                <a:moveTo>
                  <a:pt x="0" y="0"/>
                </a:moveTo>
                <a:lnTo>
                  <a:pt x="8380361" y="0"/>
                </a:lnTo>
                <a:lnTo>
                  <a:pt x="8380361" y="4842483"/>
                </a:lnTo>
                <a:lnTo>
                  <a:pt x="0" y="48424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28" t="-19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-458303" y="596800"/>
            <a:ext cx="10597105" cy="112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4"/>
              </a:lnSpc>
              <a:spcBef>
                <a:spcPct val="0"/>
              </a:spcBef>
            </a:pPr>
            <a:r>
              <a:rPr lang="en-US" sz="6581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Finding &amp; Insights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5613" y="2306955"/>
            <a:ext cx="9489433" cy="7066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367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Sales: RS. 15.11M | Profit: 2.40M | Bottles Sold: 72K</a:t>
            </a:r>
          </a:p>
          <a:p>
            <a:pPr marL="518157" lvl="1" indent="-259078" algn="l">
              <a:lnSpc>
                <a:spcPts val="4367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Target Achievement: 75.53%</a:t>
            </a:r>
          </a:p>
          <a:p>
            <a:pPr marL="518157" lvl="1" indent="-259078" algn="l">
              <a:lnSpc>
                <a:spcPts val="4367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Top Category: 20L bottles (38% of sales)</a:t>
            </a:r>
          </a:p>
          <a:p>
            <a:pPr marL="518157" lvl="1" indent="-259078" algn="l">
              <a:lnSpc>
                <a:spcPts val="4367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Top Brands: Crystal, JJ Bottles, Elephant (each ~33%)</a:t>
            </a:r>
          </a:p>
          <a:p>
            <a:pPr marL="518157" lvl="1" indent="-259078" algn="l">
              <a:lnSpc>
                <a:spcPts val="4367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Damage Rate: 3.35% | Highest Loss: July &amp; September</a:t>
            </a:r>
          </a:p>
          <a:p>
            <a:pPr marL="518157" lvl="1" indent="-259078" algn="l">
              <a:lnSpc>
                <a:spcPts val="4367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Sales Forecast: Stable trend, 0.20M/day in April</a:t>
            </a:r>
          </a:p>
          <a:p>
            <a:pPr marL="518157" lvl="1" indent="-259078" algn="l">
              <a:lnSpc>
                <a:spcPts val="4367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Top Product: 20L bottle (RS. 6M sales)</a:t>
            </a:r>
          </a:p>
          <a:p>
            <a:pPr marL="518157" lvl="1" indent="-259078" algn="l">
              <a:lnSpc>
                <a:spcPts val="4367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Stock Needs: Replenish 20L &amp; 5L (JJ, Elephant), 1.5L &amp; 500ml (Crystal)</a:t>
            </a:r>
          </a:p>
          <a:p>
            <a:pPr marL="518157" lvl="1" indent="-259078" algn="l">
              <a:lnSpc>
                <a:spcPts val="4367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Promotion Focus: Elephant brand</a:t>
            </a:r>
          </a:p>
          <a:p>
            <a:pPr marL="518157" lvl="1" indent="-259078" algn="l">
              <a:lnSpc>
                <a:spcPts val="4367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Supplier Issue: High damages from JJ Bottles — consider switching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85207" y="27201"/>
            <a:ext cx="11357944" cy="1102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74"/>
              </a:lnSpc>
              <a:spcBef>
                <a:spcPct val="0"/>
              </a:spcBef>
            </a:pPr>
            <a:r>
              <a:rPr lang="en-US" sz="6481" b="1">
                <a:solidFill>
                  <a:srgbClr val="F1840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Future Recommendations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1212270"/>
            <a:ext cx="17204982" cy="7877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9"/>
              </a:lnSpc>
            </a:pPr>
            <a:endParaRPr/>
          </a:p>
          <a:p>
            <a:pPr marL="503708" lvl="1" indent="-251854" algn="just">
              <a:lnSpc>
                <a:spcPts val="3849"/>
              </a:lnSpc>
              <a:buAutoNum type="arabicPeriod"/>
            </a:pPr>
            <a:r>
              <a:rPr lang="en-US" sz="2333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Implement Real-Time Data Integration</a:t>
            </a:r>
          </a:p>
          <a:p>
            <a:pPr marL="1007415" lvl="2" indent="-335805" algn="just">
              <a:lnSpc>
                <a:spcPts val="3849"/>
              </a:lnSpc>
              <a:buAutoNum type="alphaLcPeriod"/>
            </a:pPr>
            <a:r>
              <a:rPr lang="en-US" sz="2333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Shift from static data updates to live connections between systems (ERP/POS) and Power BI.</a:t>
            </a:r>
          </a:p>
          <a:p>
            <a:pPr marL="1007415" lvl="2" indent="-335805" algn="just">
              <a:lnSpc>
                <a:spcPts val="3849"/>
              </a:lnSpc>
              <a:buAutoNum type="alphaLcPeriod"/>
            </a:pPr>
            <a:r>
              <a:rPr lang="en-US" sz="2333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Real-time analytics will enable quicker responses to sales spikes, stockouts, and damage alerts.</a:t>
            </a:r>
          </a:p>
          <a:p>
            <a:pPr marL="503708" lvl="1" indent="-251854" algn="just">
              <a:lnSpc>
                <a:spcPts val="3849"/>
              </a:lnSpc>
              <a:buAutoNum type="arabicPeriod"/>
            </a:pPr>
            <a:r>
              <a:rPr lang="en-US" sz="2333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Adopt Geospatial &amp; Customer Segmentation Analytics</a:t>
            </a:r>
          </a:p>
          <a:p>
            <a:pPr marL="1007415" lvl="2" indent="-335805" algn="just">
              <a:lnSpc>
                <a:spcPts val="3849"/>
              </a:lnSpc>
              <a:buAutoNum type="alphaLcPeriod"/>
            </a:pPr>
            <a:r>
              <a:rPr lang="en-US" sz="2333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map visuals and cluster analysis to reveal geographic sales patterns and identify underserved areas.</a:t>
            </a:r>
          </a:p>
          <a:p>
            <a:pPr marL="1007415" lvl="2" indent="-335805" algn="just">
              <a:lnSpc>
                <a:spcPts val="3849"/>
              </a:lnSpc>
              <a:buAutoNum type="alphaLcPeriod"/>
            </a:pPr>
            <a:r>
              <a:rPr lang="en-US" sz="2333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Tailored promotions and optimized delivery routes can be created based on location.</a:t>
            </a:r>
          </a:p>
          <a:p>
            <a:pPr marL="503708" lvl="1" indent="-251854" algn="just">
              <a:lnSpc>
                <a:spcPts val="3849"/>
              </a:lnSpc>
              <a:buAutoNum type="arabicPeriod"/>
            </a:pPr>
            <a:r>
              <a:rPr lang="en-US" sz="2333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Expand Predictive Models with Machine Learning</a:t>
            </a:r>
          </a:p>
          <a:p>
            <a:pPr marL="1007415" lvl="2" indent="-335805" algn="just">
              <a:lnSpc>
                <a:spcPts val="3849"/>
              </a:lnSpc>
              <a:buAutoNum type="alphaLcPeriod"/>
            </a:pPr>
            <a:r>
              <a:rPr lang="en-US" sz="2333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Move beyond basic forecasting by training custom machine learning models (e.g., regression, time-series) in Python/R.</a:t>
            </a:r>
          </a:p>
          <a:p>
            <a:pPr marL="1007415" lvl="2" indent="-335805" algn="just">
              <a:lnSpc>
                <a:spcPts val="3849"/>
              </a:lnSpc>
              <a:buAutoNum type="alphaLcPeriod"/>
            </a:pPr>
            <a:r>
              <a:rPr lang="en-US" sz="2333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Enhance demand forecasting and damage-risk predictions to further reduce costs.</a:t>
            </a:r>
          </a:p>
          <a:p>
            <a:pPr marL="503708" lvl="1" indent="-251854" algn="just">
              <a:lnSpc>
                <a:spcPts val="3849"/>
              </a:lnSpc>
              <a:buAutoNum type="arabicPeriod"/>
            </a:pPr>
            <a:r>
              <a:rPr lang="en-US" sz="2333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Automate Reporting and Alerts</a:t>
            </a:r>
          </a:p>
          <a:p>
            <a:pPr marL="1007415" lvl="2" indent="-335805" algn="just">
              <a:lnSpc>
                <a:spcPts val="3849"/>
              </a:lnSpc>
              <a:buAutoNum type="alphaLcPeriod"/>
            </a:pPr>
            <a:r>
              <a:rPr lang="en-US" sz="2333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Set up automated notifications (via email/mobile) for critical KPIs (e.g., damage rate exceeding threshold, stockouts).</a:t>
            </a:r>
          </a:p>
          <a:p>
            <a:pPr marL="1007415" lvl="2" indent="-335805" algn="just">
              <a:lnSpc>
                <a:spcPts val="3849"/>
              </a:lnSpc>
              <a:buAutoNum type="alphaLcPeriod"/>
            </a:pPr>
            <a:r>
              <a:rPr lang="en-US" sz="2333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Keeps stakeholders informed without requiring manual checks of dashboards.</a:t>
            </a:r>
          </a:p>
          <a:p>
            <a:pPr marL="503708" lvl="1" indent="-251854" algn="just">
              <a:lnSpc>
                <a:spcPts val="3849"/>
              </a:lnSpc>
              <a:buAutoNum type="arabicPeriod"/>
            </a:pPr>
            <a:r>
              <a:rPr lang="en-US" sz="2333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Invest in Data Governance &amp; Self-Service BI</a:t>
            </a:r>
          </a:p>
          <a:p>
            <a:pPr marL="1007415" lvl="2" indent="-335805" algn="just">
              <a:lnSpc>
                <a:spcPts val="3849"/>
              </a:lnSpc>
              <a:buAutoNum type="alphaLcPeriod"/>
            </a:pPr>
            <a:r>
              <a:rPr lang="en-US" sz="2333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Establish clear data ownership, version control, and access policies.</a:t>
            </a:r>
          </a:p>
          <a:p>
            <a:pPr marL="1007415" lvl="2" indent="-335805" algn="just">
              <a:lnSpc>
                <a:spcPts val="3849"/>
              </a:lnSpc>
              <a:buAutoNum type="alphaLcPeriod"/>
            </a:pPr>
            <a:r>
              <a:rPr lang="en-US" sz="2333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Empower business users with “self-service” tools and training for ad-hoc reporting, reducing reliance on IT.</a:t>
            </a:r>
          </a:p>
          <a:p>
            <a:pPr marL="29309" lvl="1" indent="-14654" algn="just">
              <a:lnSpc>
                <a:spcPts val="223"/>
              </a:lnSpc>
              <a:buAutoNum type="arabicPeriod"/>
            </a:pPr>
            <a:endParaRPr lang="en-US" sz="2333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51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10667" y="3279352"/>
            <a:ext cx="11866665" cy="294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3"/>
              </a:lnSpc>
              <a:spcBef>
                <a:spcPct val="0"/>
              </a:spcBef>
            </a:pPr>
            <a:r>
              <a:rPr lang="en-US" sz="17145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824976" flipH="1" flipV="1">
            <a:off x="15207158" y="4190696"/>
            <a:ext cx="5243927" cy="3155891"/>
          </a:xfrm>
          <a:custGeom>
            <a:avLst/>
            <a:gdLst/>
            <a:ahLst/>
            <a:cxnLst/>
            <a:rect l="l" t="t" r="r" b="b"/>
            <a:pathLst>
              <a:path w="5243927" h="3155891">
                <a:moveTo>
                  <a:pt x="5243927" y="3155890"/>
                </a:moveTo>
                <a:lnTo>
                  <a:pt x="0" y="3155890"/>
                </a:lnTo>
                <a:lnTo>
                  <a:pt x="0" y="0"/>
                </a:lnTo>
                <a:lnTo>
                  <a:pt x="5243927" y="0"/>
                </a:lnTo>
                <a:lnTo>
                  <a:pt x="5243927" y="315589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334450" flipH="1" flipV="1">
            <a:off x="-1769712" y="2440724"/>
            <a:ext cx="4856998" cy="2923030"/>
          </a:xfrm>
          <a:custGeom>
            <a:avLst/>
            <a:gdLst/>
            <a:ahLst/>
            <a:cxnLst/>
            <a:rect l="l" t="t" r="r" b="b"/>
            <a:pathLst>
              <a:path w="4856998" h="2923030">
                <a:moveTo>
                  <a:pt x="4856998" y="2923030"/>
                </a:moveTo>
                <a:lnTo>
                  <a:pt x="0" y="2923030"/>
                </a:lnTo>
                <a:lnTo>
                  <a:pt x="0" y="0"/>
                </a:lnTo>
                <a:lnTo>
                  <a:pt x="4856998" y="0"/>
                </a:lnTo>
                <a:lnTo>
                  <a:pt x="4856998" y="292303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1054</Words>
  <Application>Microsoft Office PowerPoint</Application>
  <PresentationFormat>Custom</PresentationFormat>
  <Paragraphs>159</Paragraphs>
  <Slides>29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Bricolage Grotesque Semi-Bold</vt:lpstr>
      <vt:lpstr>Calibri</vt:lpstr>
      <vt:lpstr>Montserrat Bold</vt:lpstr>
      <vt:lpstr>Bricolage Grotesque Bold</vt:lpstr>
      <vt:lpstr>Bricolage Grotesque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Orange Minimalist Marketing Plan Presentation</dc:title>
  <dc:creator>DESHANI</dc:creator>
  <cp:lastModifiedBy>Deshani Liyanage</cp:lastModifiedBy>
  <cp:revision>2</cp:revision>
  <dcterms:created xsi:type="dcterms:W3CDTF">2006-08-16T00:00:00Z</dcterms:created>
  <dcterms:modified xsi:type="dcterms:W3CDTF">2025-05-10T13:14:20Z</dcterms:modified>
  <dc:identifier>DAGm-xQs4Yg</dc:identifier>
</cp:coreProperties>
</file>